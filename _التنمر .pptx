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autoCompressPictures="0">
  <p:sldMasterIdLst>
    <p:sldMasterId id="2147483648" r:id="rId1"/>
  </p:sldMasterIdLst>
  <p:notesMasterIdLst>
    <p:notesMasterId r:id="rId11"/>
  </p:notesMasterIdLst>
  <p:sldIdLst>
    <p:sldId id="347" r:id="rId2"/>
    <p:sldId id="342" r:id="rId3"/>
    <p:sldId id="343" r:id="rId4"/>
    <p:sldId id="346" r:id="rId5"/>
    <p:sldId id="344" r:id="rId6"/>
    <p:sldId id="341" r:id="rId7"/>
    <p:sldId id="340" r:id="rId8"/>
    <p:sldId id="345" r:id="rId9"/>
    <p:sldId id="348" r:id="rId10"/>
  </p:sldIdLst>
  <p:sldSz cx="12192000" cy="6858000"/>
  <p:notesSz cx="6858000" cy="9144000"/>
  <p:embeddedFontLst>
    <p:embeddedFont>
      <p:font typeface="Garamond" panose="02020404030301010803" pitchFamily="18" charset="0"/>
      <p:regular r:id="rId12"/>
      <p:bold r:id="rId13"/>
      <p:italic r:id="rId14"/>
    </p:embeddedFont>
    <p:embeddedFont>
      <p:font typeface="Harmattan" panose="020B0604020202020204" charset="-78"/>
      <p:regular r:id="rId15"/>
      <p:bold r:id="rId16"/>
    </p:embeddedFont>
  </p:embeddedFontLst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6" pos="7083" userDrawn="1">
          <p15:clr>
            <a:srgbClr val="A4A3A4"/>
          </p15:clr>
        </p15:guide>
        <p15:guide id="7" pos="642" userDrawn="1">
          <p15:clr>
            <a:srgbClr val="A4A3A4"/>
          </p15:clr>
        </p15:guide>
        <p15:guide id="8" orient="horz" pos="2069" userDrawn="1">
          <p15:clr>
            <a:srgbClr val="A4A3A4"/>
          </p15:clr>
        </p15:guide>
        <p15:guide id="9" orient="horz" pos="33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6"/>
    <a:srgbClr val="E8B8FA"/>
    <a:srgbClr val="76ACFD"/>
    <a:srgbClr val="E55436"/>
    <a:srgbClr val="133836"/>
    <a:srgbClr val="937F4E"/>
    <a:srgbClr val="F5513C"/>
    <a:srgbClr val="F6503C"/>
    <a:srgbClr val="E5E1DD"/>
    <a:srgbClr val="F65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E82730-4B71-40E0-9EF6-640F8B6929FA}" v="1" dt="2023-04-15T11:36:54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5297" autoAdjust="0"/>
  </p:normalViewPr>
  <p:slideViewPr>
    <p:cSldViewPr snapToGrid="0">
      <p:cViewPr varScale="1">
        <p:scale>
          <a:sx n="67" d="100"/>
          <a:sy n="67" d="100"/>
        </p:scale>
        <p:origin x="427" y="62"/>
      </p:cViewPr>
      <p:guideLst>
        <p:guide orient="horz" pos="799"/>
        <p:guide pos="3840"/>
        <p:guide orient="horz" pos="1616"/>
        <p:guide pos="7083"/>
        <p:guide pos="642"/>
        <p:guide orient="horz" pos="2069"/>
        <p:guide orient="horz" pos="3362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C05F434-6CCA-4BDE-85E1-432352A467E9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EG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9895B7B-541A-4295-BA7E-8CD2FDB3948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3313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1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4995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7976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800" dirty="0"/>
              <a:t>هذا القالب من تصميم موقع انجز ( </a:t>
            </a:r>
            <a:r>
              <a:rPr lang="en-US" sz="800" dirty="0"/>
              <a:t>ingez-ppt.com</a:t>
            </a:r>
            <a:r>
              <a:rPr lang="ar-SA" sz="800" dirty="0"/>
              <a:t> ) : موقع عربي متخصص بتصميم قوالب البوربوينت باللغة العربية</a:t>
            </a:r>
            <a:endParaRPr lang="ar-EG" sz="800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3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61338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4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53870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5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4679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705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7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3442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8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17419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dirty="0"/>
              <a:t>هذا القالب من تصميم موقع انجز ( </a:t>
            </a:r>
            <a:r>
              <a:rPr lang="en-US" dirty="0"/>
              <a:t>ingez-ppt.com</a:t>
            </a:r>
            <a:r>
              <a:rPr lang="ar-SA" dirty="0"/>
              <a:t> ) : موقع عربي متخصص بتصميم قوالب البوربوينت باللغة العربية</a:t>
            </a:r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5B7B-541A-4295-BA7E-8CD2FDB3948F}" type="slidenum">
              <a:rPr lang="ar-EG" smtClean="0"/>
              <a:t>9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07803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A3E46BE-A259-48A7-8C60-7ED7823EF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26878867-1D80-42EC-AC87-6C34F2C0C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EG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77FD594-0ECF-490C-82DB-676A32B7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9CB37B8-6F74-4CC2-B509-0DECC9DB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617158-EB0B-4E4C-BFA1-FDB6CD32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7718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7D8D651-84F6-42E1-BDE4-352DE4A7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2E0FF66-1696-4B5C-BAC4-F1980D4A6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779AB8A-DAC4-46CE-AFDB-33FA2C5C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7717785-9BA3-4D72-AD3D-BD3D96F9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6F2E551-1779-46D5-8A39-B36F7CC8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377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C622DFC-0121-406C-A507-5B3316BA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A21FAF0-120A-4D33-AF3E-B723A200F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5488C05-5240-4CA9-A81F-0DAADD7A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A2A9D43-6459-4447-BFA1-2F88FFCB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427BC5A-67AD-468E-B097-0F7A7674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0450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1285A2C-025C-46A2-BBC4-7351A663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D36B147-622E-4D3E-B67D-056617FE6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E6B5156-B1AB-4622-9CCB-289BEFD92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6D81D30-DAF0-4A80-BED9-443ECB81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6DBD39E-60EC-4FB8-909B-F5CE69BA9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FD2F44D-77C6-4D69-AE8A-A851C672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4033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7CB9807-DCB1-4975-81EF-683BF8D6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B82E381-E2AC-40B3-9D2B-EF249B766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98EE47C-0148-40DA-AD14-6FEA4880C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9F33E99B-9E6A-4D9F-840F-ECC45163B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0223A978-E2C6-4906-B006-A453BA45B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5BF6D75-C190-4B33-921A-AB2F84B4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4CB11A39-4B93-4D9E-9C57-8A2AD510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3D6855AB-CE36-4840-9E0D-A1CE56C5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4843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2C41E42-6387-4AB3-86DB-F3C34805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8BCCFCBB-A74F-42B3-966D-395D3EB2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BA672E25-09CA-4979-84F0-E6DE4BE9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4546B6E-49ED-41EE-9B32-8C18E5C1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3047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EB9D89E-D2FE-46F8-8CCD-1A4B34B2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80D4D3C6-547C-41F5-B9EE-113EB482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79B890F-08FB-48BF-99D7-1B56C232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4736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DEC974C-F381-4F7D-ADA7-4F769077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36241BC-CE8A-44EC-9ABB-A43BF78BC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B0679B3-BA1C-4F1E-BC58-C791628A1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F54CC5E-1F87-4A50-AE81-DFFEF2D47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F520AB8-7C93-4052-99B5-E5CCF4A5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B483422-FDCC-454E-A8D8-5913574E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2851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3676EC-66D7-4E0F-A6C5-4293DC52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E3086044-0696-4A95-9261-9B12E3939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7A612F3-1F54-4FDB-8AFB-B421C62E8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46710C8-F6B0-4C08-B5ED-379E9CD6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12879A5-0BDC-4A2A-AD79-AF0C04D8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E6E36B9-2C97-4F5D-A98B-712829DA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9401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3393DE8-A3E3-47C3-8141-C230AD58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E49A8EA-99D7-407B-9C8E-4A759CFEE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8CDB66F-7516-4358-AAAA-EA4146A9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0A57747-78EB-41DD-BC44-22369E00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C1BE1B2-21AF-4CEF-9C37-AA866FAF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5862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500AABA3-24CD-4171-8F3A-F79FD766C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6013114-31C1-4733-868F-1CC8066DE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C75B9F5-39F8-40C7-97C9-40E89533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F774EDC-9B8A-4825-ACBA-EC4538A6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6E9B539-CE54-4FB1-B47F-649739A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6701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9421E2EC-99A1-460A-98B4-BB7D4BB8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EG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9FF89C3-A6E9-4A84-A050-909C9AE00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B69099C-D7BE-4490-9500-5924AA55A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9B51A-4345-4294-B44B-7708CFF1B0D2}" type="datetimeFigureOut">
              <a:rPr lang="ar-EG" smtClean="0"/>
              <a:t>22/02/1446</a:t>
            </a:fld>
            <a:endParaRPr lang="ar-EG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AF0FCC2-F81D-4355-9E16-2FAA7BC4D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30118B-F1E2-4396-B42A-7F6B34518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26514-3FEC-42E5-A69D-A827C28613E0}" type="slidenum">
              <a:rPr lang="ar-EG" smtClean="0"/>
              <a:t>‹#›</a:t>
            </a:fld>
            <a:endParaRPr lang="ar-EG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A6FBB519-2733-4A92-9000-2E4E21C3E63E}"/>
              </a:ext>
            </a:extLst>
          </p:cNvPr>
          <p:cNvSpPr txBox="1"/>
          <p:nvPr userDrawn="1"/>
        </p:nvSpPr>
        <p:spPr>
          <a:xfrm>
            <a:off x="399905" y="-369332"/>
            <a:ext cx="1136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400" dirty="0">
                <a:solidFill>
                  <a:schemeClr val="bg1">
                    <a:lumMod val="75000"/>
                  </a:schemeClr>
                </a:solidFill>
              </a:rPr>
              <a:t>هذا القالب من تصميم موقع انجز (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ingez-ppt.com</a:t>
            </a:r>
            <a:r>
              <a:rPr lang="ar-SA" sz="1400" dirty="0">
                <a:solidFill>
                  <a:schemeClr val="bg1">
                    <a:lumMod val="75000"/>
                  </a:schemeClr>
                </a:solidFill>
              </a:rPr>
              <a:t> ) : موقع عربي متخصص بتصميم قوالب البوربوينت باللغة العربية</a:t>
            </a:r>
            <a:endParaRPr lang="ar-EG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13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296611" y="2185746"/>
            <a:ext cx="75987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5400" dirty="0">
                <a:solidFill>
                  <a:srgbClr val="F5513C"/>
                </a:solidFill>
              </a:rPr>
              <a:t>ظاهرة التنمر</a:t>
            </a:r>
            <a:endParaRPr lang="ar-EG" sz="5400" dirty="0">
              <a:solidFill>
                <a:srgbClr val="F5513C"/>
              </a:solidFill>
            </a:endParaRPr>
          </a:p>
          <a:p>
            <a:pPr algn="ctr"/>
            <a:r>
              <a:rPr lang="en-US" sz="5400" dirty="0">
                <a:solidFill>
                  <a:srgbClr val="F5513C"/>
                </a:solidFill>
              </a:rPr>
              <a:t>The phenomenon of bullying</a:t>
            </a:r>
            <a:endParaRPr lang="ar-SA" sz="5400" dirty="0">
              <a:solidFill>
                <a:srgbClr val="F5513C"/>
              </a:solidFill>
            </a:endParaRPr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1146197" y="1876781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52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2259286" y="5601903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3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3151433" y="5601904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4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3991807" y="5480472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5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4824375" y="5300339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7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5539994" y="5224742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8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6202208" y="5029196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9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6704817" y="4990840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2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7043576" y="4797729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3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7376807" y="4666121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4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0351067" y="2239413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6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9697751" y="2450792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7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9195141" y="2611961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8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8692531" y="2656729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9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4048545" y="2656729"/>
            <a:ext cx="395275" cy="395275"/>
          </a:xfrm>
          <a:prstGeom prst="star7">
            <a:avLst>
              <a:gd name="adj" fmla="val 16288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0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3484008" y="2360656"/>
            <a:ext cx="395275" cy="395275"/>
          </a:xfrm>
          <a:prstGeom prst="star7">
            <a:avLst>
              <a:gd name="adj" fmla="val 16288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1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2981396" y="2109349"/>
            <a:ext cx="395275" cy="395275"/>
          </a:xfrm>
          <a:prstGeom prst="star7">
            <a:avLst>
              <a:gd name="adj" fmla="val 16288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2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254641" y="2168483"/>
            <a:ext cx="75987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5400" dirty="0">
                <a:solidFill>
                  <a:srgbClr val="F5513C"/>
                </a:solidFill>
              </a:rPr>
              <a:t>ظاهرة التنمر</a:t>
            </a:r>
            <a:endParaRPr lang="ar-EG" sz="5400" dirty="0">
              <a:solidFill>
                <a:srgbClr val="F5513C"/>
              </a:solidFill>
            </a:endParaRPr>
          </a:p>
          <a:p>
            <a:pPr algn="ctr"/>
            <a:r>
              <a:rPr lang="en-US" sz="5400" dirty="0">
                <a:solidFill>
                  <a:srgbClr val="F5513C"/>
                </a:solidFill>
              </a:rPr>
              <a:t>The phenomenon of bullying</a:t>
            </a:r>
            <a:endParaRPr lang="ar-SA" sz="5400" dirty="0">
              <a:solidFill>
                <a:srgbClr val="F5513C"/>
              </a:solidFill>
            </a:endParaRPr>
          </a:p>
        </p:txBody>
      </p:sp>
      <p:sp>
        <p:nvSpPr>
          <p:cNvPr id="33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2510592" y="1876781"/>
            <a:ext cx="395275" cy="395275"/>
          </a:xfrm>
          <a:prstGeom prst="star7">
            <a:avLst>
              <a:gd name="adj" fmla="val 16288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4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2098973" y="1606739"/>
            <a:ext cx="395275" cy="395275"/>
          </a:xfrm>
          <a:prstGeom prst="star7">
            <a:avLst>
              <a:gd name="adj" fmla="val 16288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5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7628112" y="4797730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6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8160332" y="4797731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7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8796438" y="4797731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8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9404477" y="4721430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9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10351066" y="4295121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3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10002037" y="4526585"/>
            <a:ext cx="395275" cy="395275"/>
          </a:xfrm>
          <a:prstGeom prst="star7">
            <a:avLst>
              <a:gd name="adj" fmla="val 898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0730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انفجار: 8 نقاط 6">
            <a:extLst>
              <a:ext uri="{FF2B5EF4-FFF2-40B4-BE49-F238E27FC236}">
                <a16:creationId xmlns:a16="http://schemas.microsoft.com/office/drawing/2014/main" id="{3744ED8B-258E-4252-BD77-335BDFE0D2DC}"/>
              </a:ext>
            </a:extLst>
          </p:cNvPr>
          <p:cNvSpPr/>
          <p:nvPr/>
        </p:nvSpPr>
        <p:spPr>
          <a:xfrm>
            <a:off x="9860730" y="5181600"/>
            <a:ext cx="2331269" cy="1676400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انفجار: 14 نقطة 7">
            <a:extLst>
              <a:ext uri="{FF2B5EF4-FFF2-40B4-BE49-F238E27FC236}">
                <a16:creationId xmlns:a16="http://schemas.microsoft.com/office/drawing/2014/main" id="{A5F377DD-9C1D-4AF5-B9D4-251E798FC950}"/>
              </a:ext>
            </a:extLst>
          </p:cNvPr>
          <p:cNvSpPr/>
          <p:nvPr/>
        </p:nvSpPr>
        <p:spPr>
          <a:xfrm rot="1559859">
            <a:off x="9226017" y="-373121"/>
            <a:ext cx="2701634" cy="2701634"/>
          </a:xfrm>
          <a:prstGeom prst="irregularSeal2">
            <a:avLst/>
          </a:prstGeom>
          <a:solidFill>
            <a:srgbClr val="937F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781727" y="661675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0" name="شكل حر: شكل 9">
            <a:extLst>
              <a:ext uri="{FF2B5EF4-FFF2-40B4-BE49-F238E27FC236}">
                <a16:creationId xmlns:a16="http://schemas.microsoft.com/office/drawing/2014/main" id="{2D8CA6CA-C1CA-4EE0-ACA5-DD1240914815}"/>
              </a:ext>
            </a:extLst>
          </p:cNvPr>
          <p:cNvSpPr/>
          <p:nvPr/>
        </p:nvSpPr>
        <p:spPr>
          <a:xfrm>
            <a:off x="336951" y="128638"/>
            <a:ext cx="3012119" cy="401380"/>
          </a:xfrm>
          <a:custGeom>
            <a:avLst/>
            <a:gdLst>
              <a:gd name="connsiteX0" fmla="*/ 3774302 w 3774302"/>
              <a:gd name="connsiteY0" fmla="*/ 379749 h 502945"/>
              <a:gd name="connsiteX1" fmla="*/ 3713342 w 3774302"/>
              <a:gd name="connsiteY1" fmla="*/ 369589 h 502945"/>
              <a:gd name="connsiteX2" fmla="*/ 3225662 w 3774302"/>
              <a:gd name="connsiteY2" fmla="*/ 450869 h 502945"/>
              <a:gd name="connsiteX3" fmla="*/ 2910702 w 3774302"/>
              <a:gd name="connsiteY3" fmla="*/ 359429 h 502945"/>
              <a:gd name="connsiteX4" fmla="*/ 2900542 w 3774302"/>
              <a:gd name="connsiteY4" fmla="*/ 328949 h 502945"/>
              <a:gd name="connsiteX5" fmla="*/ 2524622 w 3774302"/>
              <a:gd name="connsiteY5" fmla="*/ 400069 h 502945"/>
              <a:gd name="connsiteX6" fmla="*/ 2179182 w 3774302"/>
              <a:gd name="connsiteY6" fmla="*/ 420389 h 502945"/>
              <a:gd name="connsiteX7" fmla="*/ 1407022 w 3774302"/>
              <a:gd name="connsiteY7" fmla="*/ 501669 h 502945"/>
              <a:gd name="connsiteX8" fmla="*/ 1366382 w 3774302"/>
              <a:gd name="connsiteY8" fmla="*/ 471189 h 502945"/>
              <a:gd name="connsiteX9" fmla="*/ 1386702 w 3774302"/>
              <a:gd name="connsiteY9" fmla="*/ 278149 h 502945"/>
              <a:gd name="connsiteX10" fmla="*/ 1488302 w 3774302"/>
              <a:gd name="connsiteY10" fmla="*/ 257829 h 502945"/>
              <a:gd name="connsiteX11" fmla="*/ 1701662 w 3774302"/>
              <a:gd name="connsiteY11" fmla="*/ 278149 h 502945"/>
              <a:gd name="connsiteX12" fmla="*/ 1742302 w 3774302"/>
              <a:gd name="connsiteY12" fmla="*/ 339109 h 502945"/>
              <a:gd name="connsiteX13" fmla="*/ 1142862 w 3774302"/>
              <a:gd name="connsiteY13" fmla="*/ 501669 h 502945"/>
              <a:gd name="connsiteX14" fmla="*/ 1173342 w 3774302"/>
              <a:gd name="connsiteY14" fmla="*/ 339109 h 502945"/>
              <a:gd name="connsiteX15" fmla="*/ 970142 w 3774302"/>
              <a:gd name="connsiteY15" fmla="*/ 389909 h 502945"/>
              <a:gd name="connsiteX16" fmla="*/ 86222 w 3774302"/>
              <a:gd name="connsiteY16" fmla="*/ 471189 h 502945"/>
              <a:gd name="connsiteX17" fmla="*/ 15102 w 3774302"/>
              <a:gd name="connsiteY17" fmla="*/ 237509 h 502945"/>
              <a:gd name="connsiteX18" fmla="*/ 482462 w 3774302"/>
              <a:gd name="connsiteY18" fmla="*/ 3829 h 502945"/>
              <a:gd name="connsiteX19" fmla="*/ 319902 w 3774302"/>
              <a:gd name="connsiteY19" fmla="*/ 115589 h 50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74302" h="502945">
                <a:moveTo>
                  <a:pt x="3774302" y="379749"/>
                </a:moveTo>
                <a:cubicBezTo>
                  <a:pt x="3753982" y="376362"/>
                  <a:pt x="3733771" y="366941"/>
                  <a:pt x="3713342" y="369589"/>
                </a:cubicBezTo>
                <a:cubicBezTo>
                  <a:pt x="3549907" y="390775"/>
                  <a:pt x="3390451" y="452955"/>
                  <a:pt x="3225662" y="450869"/>
                </a:cubicBezTo>
                <a:cubicBezTo>
                  <a:pt x="3116349" y="449485"/>
                  <a:pt x="3015689" y="389909"/>
                  <a:pt x="2910702" y="359429"/>
                </a:cubicBezTo>
                <a:cubicBezTo>
                  <a:pt x="2907315" y="349269"/>
                  <a:pt x="2911193" y="327828"/>
                  <a:pt x="2900542" y="328949"/>
                </a:cubicBezTo>
                <a:cubicBezTo>
                  <a:pt x="2773713" y="342299"/>
                  <a:pt x="2651139" y="384032"/>
                  <a:pt x="2524622" y="400069"/>
                </a:cubicBezTo>
                <a:cubicBezTo>
                  <a:pt x="2410192" y="414574"/>
                  <a:pt x="2294329" y="413616"/>
                  <a:pt x="2179182" y="420389"/>
                </a:cubicBezTo>
                <a:cubicBezTo>
                  <a:pt x="1843600" y="481404"/>
                  <a:pt x="1773678" y="509470"/>
                  <a:pt x="1407022" y="501669"/>
                </a:cubicBezTo>
                <a:cubicBezTo>
                  <a:pt x="1390092" y="501309"/>
                  <a:pt x="1379929" y="481349"/>
                  <a:pt x="1366382" y="471189"/>
                </a:cubicBezTo>
                <a:cubicBezTo>
                  <a:pt x="1373155" y="406842"/>
                  <a:pt x="1354601" y="334326"/>
                  <a:pt x="1386702" y="278149"/>
                </a:cubicBezTo>
                <a:cubicBezTo>
                  <a:pt x="1403837" y="248162"/>
                  <a:pt x="1453765" y="257829"/>
                  <a:pt x="1488302" y="257829"/>
                </a:cubicBezTo>
                <a:cubicBezTo>
                  <a:pt x="1559744" y="257829"/>
                  <a:pt x="1630542" y="271376"/>
                  <a:pt x="1701662" y="278149"/>
                </a:cubicBezTo>
                <a:cubicBezTo>
                  <a:pt x="1715209" y="298469"/>
                  <a:pt x="1762622" y="325562"/>
                  <a:pt x="1742302" y="339109"/>
                </a:cubicBezTo>
                <a:cubicBezTo>
                  <a:pt x="1502538" y="498952"/>
                  <a:pt x="1395341" y="481471"/>
                  <a:pt x="1142862" y="501669"/>
                </a:cubicBezTo>
                <a:cubicBezTo>
                  <a:pt x="1153022" y="447482"/>
                  <a:pt x="1219628" y="369059"/>
                  <a:pt x="1173342" y="339109"/>
                </a:cubicBezTo>
                <a:cubicBezTo>
                  <a:pt x="1114725" y="301180"/>
                  <a:pt x="1039450" y="381488"/>
                  <a:pt x="970142" y="389909"/>
                </a:cubicBezTo>
                <a:cubicBezTo>
                  <a:pt x="676419" y="425595"/>
                  <a:pt x="380862" y="444096"/>
                  <a:pt x="86222" y="471189"/>
                </a:cubicBezTo>
                <a:cubicBezTo>
                  <a:pt x="62515" y="393296"/>
                  <a:pt x="-37552" y="299613"/>
                  <a:pt x="15102" y="237509"/>
                </a:cubicBezTo>
                <a:cubicBezTo>
                  <a:pt x="127738" y="104656"/>
                  <a:pt x="320745" y="68516"/>
                  <a:pt x="482462" y="3829"/>
                </a:cubicBezTo>
                <a:cubicBezTo>
                  <a:pt x="543516" y="-20593"/>
                  <a:pt x="374089" y="78336"/>
                  <a:pt x="319902" y="115589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شكل حر: شكل 15">
            <a:extLst>
              <a:ext uri="{FF2B5EF4-FFF2-40B4-BE49-F238E27FC236}">
                <a16:creationId xmlns:a16="http://schemas.microsoft.com/office/drawing/2014/main" id="{160A650B-51D4-41B4-B19A-BEB8E1C507E1}"/>
              </a:ext>
            </a:extLst>
          </p:cNvPr>
          <p:cNvSpPr/>
          <p:nvPr/>
        </p:nvSpPr>
        <p:spPr>
          <a:xfrm rot="184487">
            <a:off x="4699321" y="1771121"/>
            <a:ext cx="2789499" cy="326633"/>
          </a:xfrm>
          <a:custGeom>
            <a:avLst/>
            <a:gdLst>
              <a:gd name="connsiteX0" fmla="*/ 0 w 2789499"/>
              <a:gd name="connsiteY0" fmla="*/ 326633 h 326633"/>
              <a:gd name="connsiteX1" fmla="*/ 266218 w 2789499"/>
              <a:gd name="connsiteY1" fmla="*/ 245610 h 326633"/>
              <a:gd name="connsiteX2" fmla="*/ 2696902 w 2789499"/>
              <a:gd name="connsiteY2" fmla="*/ 106714 h 326633"/>
              <a:gd name="connsiteX3" fmla="*/ 2708476 w 2789499"/>
              <a:gd name="connsiteY3" fmla="*/ 153013 h 326633"/>
              <a:gd name="connsiteX4" fmla="*/ 1608881 w 2789499"/>
              <a:gd name="connsiteY4" fmla="*/ 164587 h 326633"/>
              <a:gd name="connsiteX5" fmla="*/ 2789499 w 2789499"/>
              <a:gd name="connsiteY5" fmla="*/ 48840 h 326633"/>
              <a:gd name="connsiteX6" fmla="*/ 2326512 w 2789499"/>
              <a:gd name="connsiteY6" fmla="*/ 106714 h 32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499" h="326633">
                <a:moveTo>
                  <a:pt x="0" y="326633"/>
                </a:moveTo>
                <a:cubicBezTo>
                  <a:pt x="88739" y="299625"/>
                  <a:pt x="174377" y="258621"/>
                  <a:pt x="266218" y="245610"/>
                </a:cubicBezTo>
                <a:cubicBezTo>
                  <a:pt x="1338392" y="93718"/>
                  <a:pt x="1574110" y="126586"/>
                  <a:pt x="2696902" y="106714"/>
                </a:cubicBezTo>
                <a:cubicBezTo>
                  <a:pt x="2700760" y="122147"/>
                  <a:pt x="2724361" y="152168"/>
                  <a:pt x="2708476" y="153013"/>
                </a:cubicBezTo>
                <a:cubicBezTo>
                  <a:pt x="2342441" y="172483"/>
                  <a:pt x="1383841" y="453926"/>
                  <a:pt x="1608881" y="164587"/>
                </a:cubicBezTo>
                <a:cubicBezTo>
                  <a:pt x="1851648" y="-147544"/>
                  <a:pt x="2395960" y="87422"/>
                  <a:pt x="2789499" y="48840"/>
                </a:cubicBezTo>
                <a:cubicBezTo>
                  <a:pt x="2239366" y="183317"/>
                  <a:pt x="2154216" y="313467"/>
                  <a:pt x="2326512" y="106714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358919" y="128638"/>
            <a:ext cx="759877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5400" dirty="0">
                <a:solidFill>
                  <a:srgbClr val="F5513C"/>
                </a:solidFill>
              </a:rPr>
              <a:t>مفهوم التنمر</a:t>
            </a:r>
            <a:endParaRPr lang="en-US" sz="5400" dirty="0">
              <a:solidFill>
                <a:srgbClr val="F5513C"/>
              </a:solidFill>
            </a:endParaRPr>
          </a:p>
          <a:p>
            <a:pPr algn="ctr"/>
            <a:r>
              <a:rPr lang="en-US" sz="4000" b="1" dirty="0">
                <a:solidFill>
                  <a:srgbClr val="F5513C"/>
                </a:solidFill>
              </a:rPr>
              <a:t>The</a:t>
            </a:r>
            <a:r>
              <a:rPr lang="en-US" sz="4000" dirty="0">
                <a:solidFill>
                  <a:srgbClr val="F5513C"/>
                </a:solidFill>
              </a:rPr>
              <a:t> </a:t>
            </a:r>
            <a:r>
              <a:rPr lang="en-US" sz="4000" b="1" dirty="0">
                <a:solidFill>
                  <a:srgbClr val="F5513C"/>
                </a:solidFill>
              </a:rPr>
              <a:t>concept</a:t>
            </a:r>
            <a:r>
              <a:rPr lang="en-US" sz="4000" dirty="0">
                <a:solidFill>
                  <a:srgbClr val="F5513C"/>
                </a:solidFill>
              </a:rPr>
              <a:t> </a:t>
            </a:r>
            <a:r>
              <a:rPr lang="en-US" sz="4000" b="1" dirty="0">
                <a:solidFill>
                  <a:srgbClr val="F5513C"/>
                </a:solidFill>
              </a:rPr>
              <a:t>of</a:t>
            </a:r>
            <a:r>
              <a:rPr lang="en-US" sz="4000" dirty="0">
                <a:solidFill>
                  <a:srgbClr val="F5513C"/>
                </a:solidFill>
              </a:rPr>
              <a:t> </a:t>
            </a:r>
            <a:r>
              <a:rPr lang="en-US" sz="4000" b="1" dirty="0">
                <a:solidFill>
                  <a:srgbClr val="F5513C"/>
                </a:solidFill>
              </a:rPr>
              <a:t>bullying</a:t>
            </a:r>
            <a:endParaRPr lang="ar-SA" sz="5400" b="1" dirty="0">
              <a:solidFill>
                <a:srgbClr val="F5513C"/>
              </a:solidFill>
            </a:endParaRPr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0011365" y="1923982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75" name="مربع نص 174">
            <a:extLst>
              <a:ext uri="{FF2B5EF4-FFF2-40B4-BE49-F238E27FC236}">
                <a16:creationId xmlns:a16="http://schemas.microsoft.com/office/drawing/2014/main" id="{9D23D63E-2FF5-4DA1-A202-16E4FC2A0303}"/>
              </a:ext>
            </a:extLst>
          </p:cNvPr>
          <p:cNvSpPr txBox="1"/>
          <p:nvPr/>
        </p:nvSpPr>
        <p:spPr>
          <a:xfrm>
            <a:off x="6094069" y="2282578"/>
            <a:ext cx="58708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>
                <a:solidFill>
                  <a:srgbClr val="F6513B"/>
                </a:solidFill>
              </a:rPr>
              <a:t>ظاهرة</a:t>
            </a:r>
            <a:r>
              <a:rPr lang="ar-SA" sz="2000" dirty="0"/>
              <a:t> </a:t>
            </a:r>
            <a:r>
              <a:rPr lang="ar-SA" sz="2000" dirty="0">
                <a:solidFill>
                  <a:srgbClr val="F6513B"/>
                </a:solidFill>
              </a:rPr>
              <a:t>التّنمّر</a:t>
            </a:r>
            <a:r>
              <a:rPr lang="ar-SA" sz="2000" dirty="0"/>
              <a:t> عادةٌ عدائيّةٌ وغير مرغوبةٍ، حيث يقوم بها الطّفل المتنمّر بتصرّفاتٍ عدائيّةٍ، كنشر الإشاعات، أو التهديد، </a:t>
            </a:r>
          </a:p>
          <a:p>
            <a:r>
              <a:rPr lang="ar-SA" sz="2000" dirty="0"/>
              <a:t>أو مهاجمة الشّخص المُتنمَّر عليه جسديّاً أو لفظيّاً، ويُتوقّع أن يتكرّر هذا التّصرّف مع الزّمن</a:t>
            </a:r>
          </a:p>
          <a:p>
            <a:endParaRPr lang="ar-SA" sz="2000" dirty="0"/>
          </a:p>
          <a:p>
            <a:r>
              <a:rPr lang="ar-SA" sz="2000" dirty="0"/>
              <a:t>يستخدم الأطفال المتنمّرون قواهم، سواءً أكانت جسديّة، </a:t>
            </a:r>
          </a:p>
          <a:p>
            <a:r>
              <a:rPr lang="ar-SA" sz="2000" dirty="0"/>
              <a:t>أم معرفتهم بمعلوماتٍ حسّاسة أو محرجة عن الشّخص المتنمّر عليه، أو شهرتهم، للتّحكّم أو لإلحاق الأذى بالآخرين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8C8B191E-29BC-4A4E-B5EB-64FAE8ABF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491"/>
            <a:ext cx="4452730" cy="2819550"/>
          </a:xfrm>
          <a:prstGeom prst="rect">
            <a:avLst/>
          </a:prstGeom>
        </p:spPr>
      </p:pic>
      <p:sp>
        <p:nvSpPr>
          <p:cNvPr id="15" name="مربع نص 174">
            <a:extLst>
              <a:ext uri="{FF2B5EF4-FFF2-40B4-BE49-F238E27FC236}">
                <a16:creationId xmlns:a16="http://schemas.microsoft.com/office/drawing/2014/main" id="{9D23D63E-2FF5-4DA1-A202-16E4FC2A0303}"/>
              </a:ext>
            </a:extLst>
          </p:cNvPr>
          <p:cNvSpPr txBox="1"/>
          <p:nvPr/>
        </p:nvSpPr>
        <p:spPr>
          <a:xfrm>
            <a:off x="135991" y="4036904"/>
            <a:ext cx="61569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6513B"/>
                </a:solidFill>
              </a:rPr>
              <a:t>The phenomenon of bullying is a hostile and unwanted habit, in which the bullied child carries out hostile actions, such as spreading rumors or threats.</a:t>
            </a:r>
          </a:p>
          <a:p>
            <a:pPr algn="l"/>
            <a:r>
              <a:rPr lang="en-US" b="1" dirty="0">
                <a:solidFill>
                  <a:srgbClr val="F6513B"/>
                </a:solidFill>
              </a:rPr>
              <a:t>Or attacking the person being bullied physically or verbally, and it is expected that this behavior will be repeated over time.</a:t>
            </a:r>
          </a:p>
          <a:p>
            <a:pPr algn="l"/>
            <a:endParaRPr lang="en-US" b="1" dirty="0">
              <a:solidFill>
                <a:srgbClr val="F6513B"/>
              </a:solidFill>
            </a:endParaRPr>
          </a:p>
          <a:p>
            <a:pPr algn="l"/>
            <a:r>
              <a:rPr lang="en-US" b="1" dirty="0">
                <a:solidFill>
                  <a:srgbClr val="F6513B"/>
                </a:solidFill>
              </a:rPr>
              <a:t>Bullied children use their powers, whether physical,</a:t>
            </a:r>
          </a:p>
          <a:p>
            <a:pPr algn="l"/>
            <a:r>
              <a:rPr lang="en-US" b="1" dirty="0">
                <a:solidFill>
                  <a:srgbClr val="F6513B"/>
                </a:solidFill>
              </a:rPr>
              <a:t>Or their knowledge of sensitive or embarrassing information about the person being bullied, or their fame, in order to control or harm others.</a:t>
            </a: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52014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نفجار: 14 نقطة 7">
            <a:extLst>
              <a:ext uri="{FF2B5EF4-FFF2-40B4-BE49-F238E27FC236}">
                <a16:creationId xmlns:a16="http://schemas.microsoft.com/office/drawing/2014/main" id="{A5F377DD-9C1D-4AF5-B9D4-251E798FC950}"/>
              </a:ext>
            </a:extLst>
          </p:cNvPr>
          <p:cNvSpPr/>
          <p:nvPr/>
        </p:nvSpPr>
        <p:spPr>
          <a:xfrm rot="1559859">
            <a:off x="9764046" y="-352046"/>
            <a:ext cx="2701634" cy="2701634"/>
          </a:xfrm>
          <a:prstGeom prst="irregularSeal2">
            <a:avLst/>
          </a:prstGeom>
          <a:solidFill>
            <a:srgbClr val="937F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781728" y="1220794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شكل حر: شكل 15">
            <a:extLst>
              <a:ext uri="{FF2B5EF4-FFF2-40B4-BE49-F238E27FC236}">
                <a16:creationId xmlns:a16="http://schemas.microsoft.com/office/drawing/2014/main" id="{160A650B-51D4-41B4-B19A-BEB8E1C507E1}"/>
              </a:ext>
            </a:extLst>
          </p:cNvPr>
          <p:cNvSpPr/>
          <p:nvPr/>
        </p:nvSpPr>
        <p:spPr>
          <a:xfrm rot="184487">
            <a:off x="4745922" y="1413880"/>
            <a:ext cx="2789499" cy="326633"/>
          </a:xfrm>
          <a:custGeom>
            <a:avLst/>
            <a:gdLst>
              <a:gd name="connsiteX0" fmla="*/ 0 w 2789499"/>
              <a:gd name="connsiteY0" fmla="*/ 326633 h 326633"/>
              <a:gd name="connsiteX1" fmla="*/ 266218 w 2789499"/>
              <a:gd name="connsiteY1" fmla="*/ 245610 h 326633"/>
              <a:gd name="connsiteX2" fmla="*/ 2696902 w 2789499"/>
              <a:gd name="connsiteY2" fmla="*/ 106714 h 326633"/>
              <a:gd name="connsiteX3" fmla="*/ 2708476 w 2789499"/>
              <a:gd name="connsiteY3" fmla="*/ 153013 h 326633"/>
              <a:gd name="connsiteX4" fmla="*/ 1608881 w 2789499"/>
              <a:gd name="connsiteY4" fmla="*/ 164587 h 326633"/>
              <a:gd name="connsiteX5" fmla="*/ 2789499 w 2789499"/>
              <a:gd name="connsiteY5" fmla="*/ 48840 h 326633"/>
              <a:gd name="connsiteX6" fmla="*/ 2326512 w 2789499"/>
              <a:gd name="connsiteY6" fmla="*/ 106714 h 32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499" h="326633">
                <a:moveTo>
                  <a:pt x="0" y="326633"/>
                </a:moveTo>
                <a:cubicBezTo>
                  <a:pt x="88739" y="299625"/>
                  <a:pt x="174377" y="258621"/>
                  <a:pt x="266218" y="245610"/>
                </a:cubicBezTo>
                <a:cubicBezTo>
                  <a:pt x="1338392" y="93718"/>
                  <a:pt x="1574110" y="126586"/>
                  <a:pt x="2696902" y="106714"/>
                </a:cubicBezTo>
                <a:cubicBezTo>
                  <a:pt x="2700760" y="122147"/>
                  <a:pt x="2724361" y="152168"/>
                  <a:pt x="2708476" y="153013"/>
                </a:cubicBezTo>
                <a:cubicBezTo>
                  <a:pt x="2342441" y="172483"/>
                  <a:pt x="1383841" y="453926"/>
                  <a:pt x="1608881" y="164587"/>
                </a:cubicBezTo>
                <a:cubicBezTo>
                  <a:pt x="1851648" y="-147544"/>
                  <a:pt x="2395960" y="87422"/>
                  <a:pt x="2789499" y="48840"/>
                </a:cubicBezTo>
                <a:cubicBezTo>
                  <a:pt x="2239366" y="183317"/>
                  <a:pt x="2154216" y="313467"/>
                  <a:pt x="2326512" y="106714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879519" y="132524"/>
            <a:ext cx="64291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5513C"/>
                </a:solidFill>
              </a:rPr>
              <a:t>أن</a:t>
            </a:r>
            <a:r>
              <a:rPr lang="ar-EG" sz="4400" dirty="0">
                <a:solidFill>
                  <a:srgbClr val="F5513C"/>
                </a:solidFill>
              </a:rPr>
              <a:t>ـــ</a:t>
            </a:r>
            <a:r>
              <a:rPr lang="ar-SA" sz="4400" dirty="0">
                <a:solidFill>
                  <a:srgbClr val="F5513C"/>
                </a:solidFill>
              </a:rPr>
              <a:t>واع التنم</a:t>
            </a:r>
            <a:r>
              <a:rPr lang="ar-EG" sz="4400" dirty="0">
                <a:solidFill>
                  <a:srgbClr val="F5513C"/>
                </a:solidFill>
              </a:rPr>
              <a:t>ــــ</a:t>
            </a:r>
            <a:r>
              <a:rPr lang="ar-SA" sz="4400" dirty="0">
                <a:solidFill>
                  <a:srgbClr val="F5513C"/>
                </a:solidFill>
              </a:rPr>
              <a:t>ر</a:t>
            </a:r>
            <a:endParaRPr lang="ar-EG" sz="4400" dirty="0">
              <a:solidFill>
                <a:srgbClr val="F5513C"/>
              </a:solidFill>
            </a:endParaRPr>
          </a:p>
          <a:p>
            <a:pPr algn="ctr"/>
            <a:r>
              <a:rPr lang="en-US" sz="4400" dirty="0">
                <a:solidFill>
                  <a:srgbClr val="F5513C"/>
                </a:solidFill>
              </a:rPr>
              <a:t>Types of bullying</a:t>
            </a:r>
            <a:endParaRPr lang="ar-SA" sz="4400" dirty="0">
              <a:solidFill>
                <a:srgbClr val="F5513C"/>
              </a:solidFill>
            </a:endParaRPr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0058499" y="1433788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75" name="مربع نص 174">
            <a:extLst>
              <a:ext uri="{FF2B5EF4-FFF2-40B4-BE49-F238E27FC236}">
                <a16:creationId xmlns:a16="http://schemas.microsoft.com/office/drawing/2014/main" id="{9D23D63E-2FF5-4DA1-A202-16E4FC2A0303}"/>
              </a:ext>
            </a:extLst>
          </p:cNvPr>
          <p:cNvSpPr txBox="1"/>
          <p:nvPr/>
        </p:nvSpPr>
        <p:spPr>
          <a:xfrm>
            <a:off x="7302372" y="2676000"/>
            <a:ext cx="36011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600" b="1" dirty="0">
                <a:solidFill>
                  <a:srgbClr val="F5513C"/>
                </a:solidFill>
              </a:rPr>
              <a:t>التنمر الجسدي</a:t>
            </a:r>
          </a:p>
          <a:p>
            <a:pPr algn="ctr"/>
            <a:r>
              <a:rPr lang="ar-SA" sz="1600" b="1" dirty="0"/>
              <a:t>استخدام القوة البدنية مثل الضرب وإتلاف الممتلكات. </a:t>
            </a:r>
            <a:endParaRPr lang="en-US" sz="1600" b="1" dirty="0"/>
          </a:p>
          <a:p>
            <a:pPr algn="ctr"/>
            <a:r>
              <a:rPr lang="en-US" sz="1600" b="1" dirty="0"/>
              <a:t>Physical bullying</a:t>
            </a:r>
          </a:p>
          <a:p>
            <a:pPr algn="ctr"/>
            <a:r>
              <a:rPr lang="en-US" sz="1600" b="1" dirty="0"/>
              <a:t>Using physical force such as hitting and damaging property.</a:t>
            </a:r>
            <a:endParaRPr lang="ar-SA" sz="1600" b="1" dirty="0"/>
          </a:p>
        </p:txBody>
      </p:sp>
      <p:sp>
        <p:nvSpPr>
          <p:cNvPr id="183" name="مربع نص 182">
            <a:extLst>
              <a:ext uri="{FF2B5EF4-FFF2-40B4-BE49-F238E27FC236}">
                <a16:creationId xmlns:a16="http://schemas.microsoft.com/office/drawing/2014/main" id="{5A2687B6-99BC-4B6F-AD86-7D306A9A44CA}"/>
              </a:ext>
            </a:extLst>
          </p:cNvPr>
          <p:cNvSpPr txBox="1"/>
          <p:nvPr/>
        </p:nvSpPr>
        <p:spPr>
          <a:xfrm>
            <a:off x="2624670" y="5069495"/>
            <a:ext cx="34713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600" b="1" dirty="0">
                <a:solidFill>
                  <a:srgbClr val="F5513C"/>
                </a:solidFill>
              </a:rPr>
              <a:t>التنمر الإلكتروني</a:t>
            </a:r>
          </a:p>
          <a:p>
            <a:pPr algn="ctr"/>
            <a:r>
              <a:rPr lang="ar-SA" sz="1600" b="1" dirty="0"/>
              <a:t>نشر صور وكلمات مسيئة للآخرين باستخدام الوسائل الرقمية</a:t>
            </a:r>
            <a:endParaRPr lang="en-US" sz="1600" b="1" dirty="0"/>
          </a:p>
          <a:p>
            <a:pPr algn="ctr"/>
            <a:r>
              <a:rPr lang="en-US" sz="1600" b="1" dirty="0"/>
              <a:t>Cyberbullying</a:t>
            </a:r>
          </a:p>
          <a:p>
            <a:pPr algn="ctr"/>
            <a:r>
              <a:rPr lang="en-US" sz="1600" b="1" dirty="0"/>
              <a:t>Posting offensive pictures and words to others using digital means</a:t>
            </a:r>
            <a:endParaRPr lang="ar-SA" sz="1600" b="1" dirty="0"/>
          </a:p>
        </p:txBody>
      </p:sp>
      <p:sp>
        <p:nvSpPr>
          <p:cNvPr id="184" name="مربع نص 183">
            <a:extLst>
              <a:ext uri="{FF2B5EF4-FFF2-40B4-BE49-F238E27FC236}">
                <a16:creationId xmlns:a16="http://schemas.microsoft.com/office/drawing/2014/main" id="{07D48F19-50AD-49BF-B3DD-992CBF62F145}"/>
              </a:ext>
            </a:extLst>
          </p:cNvPr>
          <p:cNvSpPr txBox="1"/>
          <p:nvPr/>
        </p:nvSpPr>
        <p:spPr>
          <a:xfrm>
            <a:off x="2503520" y="2676000"/>
            <a:ext cx="324166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ar-EG"/>
            </a:defPPr>
            <a:lvl1pPr algn="ctr">
              <a:defRPr sz="2000"/>
            </a:lvl1pPr>
          </a:lstStyle>
          <a:p>
            <a:r>
              <a:rPr lang="ar-SA" sz="1800" b="1" dirty="0">
                <a:solidFill>
                  <a:srgbClr val="F5513C"/>
                </a:solidFill>
              </a:rPr>
              <a:t>التنمر اللفظي</a:t>
            </a:r>
          </a:p>
          <a:p>
            <a:r>
              <a:rPr lang="ar-SA" sz="1400" b="1" dirty="0"/>
              <a:t> تتضمن إهانة الآخرين وتخويفهم،</a:t>
            </a:r>
          </a:p>
          <a:p>
            <a:r>
              <a:rPr lang="ar-SA" sz="1400" b="1" dirty="0"/>
              <a:t> أو استخدام ألفاظ عنصرية. </a:t>
            </a:r>
            <a:endParaRPr lang="en-US" sz="1400" b="1" dirty="0"/>
          </a:p>
          <a:p>
            <a:r>
              <a:rPr lang="en-US" sz="1400" b="1" dirty="0"/>
              <a:t>Verbal bullying</a:t>
            </a:r>
          </a:p>
          <a:p>
            <a:r>
              <a:rPr lang="en-US" sz="1400" b="1" dirty="0"/>
              <a:t>  It includes insulting and intimidating others,</a:t>
            </a:r>
          </a:p>
          <a:p>
            <a:r>
              <a:rPr lang="en-US" sz="1400" b="1" dirty="0"/>
              <a:t>  Or using racist language.</a:t>
            </a:r>
            <a:endParaRPr lang="ar-SA" sz="1400" b="1" dirty="0"/>
          </a:p>
        </p:txBody>
      </p:sp>
      <p:sp>
        <p:nvSpPr>
          <p:cNvPr id="185" name="مربع نص 184">
            <a:extLst>
              <a:ext uri="{FF2B5EF4-FFF2-40B4-BE49-F238E27FC236}">
                <a16:creationId xmlns:a16="http://schemas.microsoft.com/office/drawing/2014/main" id="{25E779B0-973D-43CA-9E29-3187042A8921}"/>
              </a:ext>
            </a:extLst>
          </p:cNvPr>
          <p:cNvSpPr txBox="1"/>
          <p:nvPr/>
        </p:nvSpPr>
        <p:spPr>
          <a:xfrm>
            <a:off x="7474509" y="5115662"/>
            <a:ext cx="3201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600" b="1" dirty="0">
                <a:solidFill>
                  <a:srgbClr val="F5513C"/>
                </a:solidFill>
              </a:rPr>
              <a:t>التنمّر الاجتماعي</a:t>
            </a:r>
          </a:p>
          <a:p>
            <a:pPr algn="ctr"/>
            <a:r>
              <a:rPr lang="ar-SA" sz="1600" b="1" dirty="0"/>
              <a:t>نشر الإشاعات والأكاذيب، ومحاولة تشويه سمعتهم. </a:t>
            </a:r>
            <a:endParaRPr lang="en-US" sz="1600" b="1" dirty="0"/>
          </a:p>
          <a:p>
            <a:pPr algn="ctr"/>
            <a:r>
              <a:rPr lang="en-US" sz="1600" b="1" dirty="0"/>
              <a:t>Social bullying</a:t>
            </a:r>
          </a:p>
          <a:p>
            <a:pPr algn="ctr"/>
            <a:r>
              <a:rPr lang="en-US" sz="1600" b="1" dirty="0"/>
              <a:t>Spreading rumors and lies, and trying to distort their reputation.</a:t>
            </a:r>
            <a:endParaRPr lang="ar-SA" sz="1600" b="1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C612AF33-53CD-40D0-8556-A628D5E22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814" y="2275312"/>
            <a:ext cx="1597201" cy="3302014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64ED5586-7CA1-4B4F-9DF7-D8D5DF0C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66" y="2004825"/>
            <a:ext cx="1993565" cy="3505504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8D6C909C-1A07-4F4E-AF12-446CD8D62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149" y="1706722"/>
            <a:ext cx="1036410" cy="823031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2F893105-05D6-4D77-9AD3-96799F9264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4911" y="4192787"/>
            <a:ext cx="774259" cy="829128"/>
          </a:xfrm>
          <a:prstGeom prst="rect">
            <a:avLst/>
          </a:prstGeom>
        </p:spPr>
      </p:pic>
      <p:pic>
        <p:nvPicPr>
          <p:cNvPr id="392" name="صورة 391">
            <a:extLst>
              <a:ext uri="{FF2B5EF4-FFF2-40B4-BE49-F238E27FC236}">
                <a16:creationId xmlns:a16="http://schemas.microsoft.com/office/drawing/2014/main" id="{4DC97FB3-8328-41FF-A70D-92080D1B8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2766" y="4245660"/>
            <a:ext cx="835224" cy="835224"/>
          </a:xfrm>
          <a:prstGeom prst="rect">
            <a:avLst/>
          </a:prstGeom>
        </p:spPr>
      </p:pic>
      <p:pic>
        <p:nvPicPr>
          <p:cNvPr id="393" name="صورة 392">
            <a:extLst>
              <a:ext uri="{FF2B5EF4-FFF2-40B4-BE49-F238E27FC236}">
                <a16:creationId xmlns:a16="http://schemas.microsoft.com/office/drawing/2014/main" id="{84E72427-5F43-46D7-AE9D-0C92CAC492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7897" y="1670143"/>
            <a:ext cx="890093" cy="896190"/>
          </a:xfrm>
          <a:prstGeom prst="rect">
            <a:avLst/>
          </a:prstGeom>
        </p:spPr>
      </p:pic>
      <p:sp>
        <p:nvSpPr>
          <p:cNvPr id="24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1681714" y="1100654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pic>
        <p:nvPicPr>
          <p:cNvPr id="26" name="صورة 10">
            <a:extLst>
              <a:ext uri="{FF2B5EF4-FFF2-40B4-BE49-F238E27FC236}">
                <a16:creationId xmlns:a16="http://schemas.microsoft.com/office/drawing/2014/main" id="{64ED5586-7CA1-4B4F-9DF7-D8D5DF0C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21" y="2031946"/>
            <a:ext cx="1993565" cy="3505504"/>
          </a:xfrm>
          <a:prstGeom prst="rect">
            <a:avLst/>
          </a:prstGeom>
        </p:spPr>
      </p:pic>
      <p:sp>
        <p:nvSpPr>
          <p:cNvPr id="27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10080719" y="1947532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8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8495562" y="944259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8555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A9B88D35-D749-450D-970B-6B582899D5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26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انفجار: 8 نقاط 5">
            <a:extLst>
              <a:ext uri="{FF2B5EF4-FFF2-40B4-BE49-F238E27FC236}">
                <a16:creationId xmlns:a16="http://schemas.microsoft.com/office/drawing/2014/main" id="{EB45936C-D181-4203-8E71-16A26275BB5E}"/>
              </a:ext>
            </a:extLst>
          </p:cNvPr>
          <p:cNvSpPr/>
          <p:nvPr/>
        </p:nvSpPr>
        <p:spPr>
          <a:xfrm>
            <a:off x="8968489" y="-802825"/>
            <a:ext cx="3467517" cy="3467517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انفجار: 14 نقطة 6">
            <a:extLst>
              <a:ext uri="{FF2B5EF4-FFF2-40B4-BE49-F238E27FC236}">
                <a16:creationId xmlns:a16="http://schemas.microsoft.com/office/drawing/2014/main" id="{A8DF19FA-7AF7-448D-9122-4424763859A1}"/>
              </a:ext>
            </a:extLst>
          </p:cNvPr>
          <p:cNvSpPr/>
          <p:nvPr/>
        </p:nvSpPr>
        <p:spPr>
          <a:xfrm>
            <a:off x="2006922" y="234324"/>
            <a:ext cx="821802" cy="821802"/>
          </a:xfrm>
          <a:prstGeom prst="irregularSeal2">
            <a:avLst/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نجمة: 7 نقاط 7">
            <a:extLst>
              <a:ext uri="{FF2B5EF4-FFF2-40B4-BE49-F238E27FC236}">
                <a16:creationId xmlns:a16="http://schemas.microsoft.com/office/drawing/2014/main" id="{5C2C6C58-593A-4AAD-AA0F-EFD96B03A37E}"/>
              </a:ext>
            </a:extLst>
          </p:cNvPr>
          <p:cNvSpPr/>
          <p:nvPr/>
        </p:nvSpPr>
        <p:spPr>
          <a:xfrm rot="20457463">
            <a:off x="1095062" y="6042754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F154638C-7A7D-415E-AF08-F60037B7198E}"/>
              </a:ext>
            </a:extLst>
          </p:cNvPr>
          <p:cNvSpPr/>
          <p:nvPr/>
        </p:nvSpPr>
        <p:spPr>
          <a:xfrm rot="20457463">
            <a:off x="9164997" y="4833340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54246B79-59BD-47C8-BE0B-5812E292390A}"/>
              </a:ext>
            </a:extLst>
          </p:cNvPr>
          <p:cNvSpPr txBox="1"/>
          <p:nvPr/>
        </p:nvSpPr>
        <p:spPr>
          <a:xfrm>
            <a:off x="2296610" y="0"/>
            <a:ext cx="75987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3600" dirty="0">
                <a:solidFill>
                  <a:srgbClr val="F5513C"/>
                </a:solidFill>
              </a:rPr>
              <a:t>أسباب التنمر</a:t>
            </a:r>
            <a:endParaRPr lang="ar-EG" sz="3600" dirty="0">
              <a:solidFill>
                <a:srgbClr val="F5513C"/>
              </a:solidFill>
            </a:endParaRPr>
          </a:p>
          <a:p>
            <a:pPr algn="ctr"/>
            <a:r>
              <a:rPr lang="en-US" sz="3600" dirty="0">
                <a:solidFill>
                  <a:srgbClr val="F5513C"/>
                </a:solidFill>
              </a:rPr>
              <a:t>Causes of bullying</a:t>
            </a:r>
            <a:endParaRPr lang="ar-SA" sz="3600" dirty="0">
              <a:solidFill>
                <a:srgbClr val="F5513C"/>
              </a:solidFill>
            </a:endParaRPr>
          </a:p>
        </p:txBody>
      </p:sp>
      <p:sp>
        <p:nvSpPr>
          <p:cNvPr id="12" name="شكل حر: شكل 11">
            <a:extLst>
              <a:ext uri="{FF2B5EF4-FFF2-40B4-BE49-F238E27FC236}">
                <a16:creationId xmlns:a16="http://schemas.microsoft.com/office/drawing/2014/main" id="{9357958B-65F0-45CA-97B6-0FA8A13AB4BC}"/>
              </a:ext>
            </a:extLst>
          </p:cNvPr>
          <p:cNvSpPr/>
          <p:nvPr/>
        </p:nvSpPr>
        <p:spPr>
          <a:xfrm rot="587997">
            <a:off x="10599516" y="6252175"/>
            <a:ext cx="1335404" cy="380993"/>
          </a:xfrm>
          <a:custGeom>
            <a:avLst/>
            <a:gdLst>
              <a:gd name="connsiteX0" fmla="*/ 1400536 w 1837236"/>
              <a:gd name="connsiteY0" fmla="*/ 61178 h 524166"/>
              <a:gd name="connsiteX1" fmla="*/ 1828800 w 1837236"/>
              <a:gd name="connsiteY1" fmla="*/ 142201 h 524166"/>
              <a:gd name="connsiteX2" fmla="*/ 1551007 w 1837236"/>
              <a:gd name="connsiteY2" fmla="*/ 327396 h 524166"/>
              <a:gd name="connsiteX3" fmla="*/ 1111169 w 1837236"/>
              <a:gd name="connsiteY3" fmla="*/ 350545 h 524166"/>
              <a:gd name="connsiteX4" fmla="*/ 1088020 w 1837236"/>
              <a:gd name="connsiteY4" fmla="*/ 38029 h 524166"/>
              <a:gd name="connsiteX5" fmla="*/ 1273215 w 1837236"/>
              <a:gd name="connsiteY5" fmla="*/ 49604 h 524166"/>
              <a:gd name="connsiteX6" fmla="*/ 1088020 w 1837236"/>
              <a:gd name="connsiteY6" fmla="*/ 304247 h 524166"/>
              <a:gd name="connsiteX7" fmla="*/ 196769 w 1837236"/>
              <a:gd name="connsiteY7" fmla="*/ 524166 h 524166"/>
              <a:gd name="connsiteX8" fmla="*/ 46298 w 1837236"/>
              <a:gd name="connsiteY8" fmla="*/ 477867 h 524166"/>
              <a:gd name="connsiteX9" fmla="*/ 34724 w 1837236"/>
              <a:gd name="connsiteY9" fmla="*/ 431568 h 524166"/>
              <a:gd name="connsiteX10" fmla="*/ 0 w 1837236"/>
              <a:gd name="connsiteY10" fmla="*/ 419993 h 524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37236" h="524166">
                <a:moveTo>
                  <a:pt x="1400536" y="61178"/>
                </a:moveTo>
                <a:cubicBezTo>
                  <a:pt x="1543291" y="88186"/>
                  <a:pt x="1757310" y="15720"/>
                  <a:pt x="1828800" y="142201"/>
                </a:cubicBezTo>
                <a:cubicBezTo>
                  <a:pt x="1883560" y="239085"/>
                  <a:pt x="1657882" y="296368"/>
                  <a:pt x="1551007" y="327396"/>
                </a:cubicBezTo>
                <a:cubicBezTo>
                  <a:pt x="1410013" y="368330"/>
                  <a:pt x="1257782" y="342829"/>
                  <a:pt x="1111169" y="350545"/>
                </a:cubicBezTo>
                <a:cubicBezTo>
                  <a:pt x="1103453" y="246373"/>
                  <a:pt x="1038497" y="130001"/>
                  <a:pt x="1088020" y="38029"/>
                </a:cubicBezTo>
                <a:cubicBezTo>
                  <a:pt x="1117344" y="-16430"/>
                  <a:pt x="1273215" y="-12248"/>
                  <a:pt x="1273215" y="49604"/>
                </a:cubicBezTo>
                <a:cubicBezTo>
                  <a:pt x="1273215" y="154559"/>
                  <a:pt x="1184057" y="261908"/>
                  <a:pt x="1088020" y="304247"/>
                </a:cubicBezTo>
                <a:cubicBezTo>
                  <a:pt x="808028" y="427684"/>
                  <a:pt x="493853" y="450860"/>
                  <a:pt x="196769" y="524166"/>
                </a:cubicBezTo>
                <a:cubicBezTo>
                  <a:pt x="146612" y="508733"/>
                  <a:pt x="91861" y="503903"/>
                  <a:pt x="46298" y="477867"/>
                </a:cubicBezTo>
                <a:cubicBezTo>
                  <a:pt x="32486" y="469974"/>
                  <a:pt x="44661" y="443990"/>
                  <a:pt x="34724" y="431568"/>
                </a:cubicBezTo>
                <a:cubicBezTo>
                  <a:pt x="27102" y="422041"/>
                  <a:pt x="11575" y="423851"/>
                  <a:pt x="0" y="419993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4" name="نجمة: 7 نقاط 8">
            <a:extLst>
              <a:ext uri="{FF2B5EF4-FFF2-40B4-BE49-F238E27FC236}">
                <a16:creationId xmlns:a16="http://schemas.microsoft.com/office/drawing/2014/main" id="{F154638C-7A7D-415E-AF08-F60037B7198E}"/>
              </a:ext>
            </a:extLst>
          </p:cNvPr>
          <p:cNvSpPr/>
          <p:nvPr/>
        </p:nvSpPr>
        <p:spPr>
          <a:xfrm rot="20457463">
            <a:off x="9667607" y="3600888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5" name="نجمة: 7 نقاط 8">
            <a:extLst>
              <a:ext uri="{FF2B5EF4-FFF2-40B4-BE49-F238E27FC236}">
                <a16:creationId xmlns:a16="http://schemas.microsoft.com/office/drawing/2014/main" id="{F154638C-7A7D-415E-AF08-F60037B7198E}"/>
              </a:ext>
            </a:extLst>
          </p:cNvPr>
          <p:cNvSpPr/>
          <p:nvPr/>
        </p:nvSpPr>
        <p:spPr>
          <a:xfrm rot="20457463">
            <a:off x="9697750" y="2633997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نجمة: 7 نقاط 8">
            <a:extLst>
              <a:ext uri="{FF2B5EF4-FFF2-40B4-BE49-F238E27FC236}">
                <a16:creationId xmlns:a16="http://schemas.microsoft.com/office/drawing/2014/main" id="{F154638C-7A7D-415E-AF08-F60037B7198E}"/>
              </a:ext>
            </a:extLst>
          </p:cNvPr>
          <p:cNvSpPr/>
          <p:nvPr/>
        </p:nvSpPr>
        <p:spPr>
          <a:xfrm rot="20457463">
            <a:off x="10379196" y="2576655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807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انفجار: 8 نقاط 6">
            <a:extLst>
              <a:ext uri="{FF2B5EF4-FFF2-40B4-BE49-F238E27FC236}">
                <a16:creationId xmlns:a16="http://schemas.microsoft.com/office/drawing/2014/main" id="{3744ED8B-258E-4252-BD77-335BDFE0D2DC}"/>
              </a:ext>
            </a:extLst>
          </p:cNvPr>
          <p:cNvSpPr/>
          <p:nvPr/>
        </p:nvSpPr>
        <p:spPr>
          <a:xfrm>
            <a:off x="8941985" y="-842867"/>
            <a:ext cx="3467517" cy="3467517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3237899" y="6042754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شكل حر: شكل 15">
            <a:extLst>
              <a:ext uri="{FF2B5EF4-FFF2-40B4-BE49-F238E27FC236}">
                <a16:creationId xmlns:a16="http://schemas.microsoft.com/office/drawing/2014/main" id="{160A650B-51D4-41B4-B19A-BEB8E1C507E1}"/>
              </a:ext>
            </a:extLst>
          </p:cNvPr>
          <p:cNvSpPr/>
          <p:nvPr/>
        </p:nvSpPr>
        <p:spPr>
          <a:xfrm rot="184487">
            <a:off x="4284088" y="1048662"/>
            <a:ext cx="2789499" cy="326633"/>
          </a:xfrm>
          <a:custGeom>
            <a:avLst/>
            <a:gdLst>
              <a:gd name="connsiteX0" fmla="*/ 0 w 2789499"/>
              <a:gd name="connsiteY0" fmla="*/ 326633 h 326633"/>
              <a:gd name="connsiteX1" fmla="*/ 266218 w 2789499"/>
              <a:gd name="connsiteY1" fmla="*/ 245610 h 326633"/>
              <a:gd name="connsiteX2" fmla="*/ 2696902 w 2789499"/>
              <a:gd name="connsiteY2" fmla="*/ 106714 h 326633"/>
              <a:gd name="connsiteX3" fmla="*/ 2708476 w 2789499"/>
              <a:gd name="connsiteY3" fmla="*/ 153013 h 326633"/>
              <a:gd name="connsiteX4" fmla="*/ 1608881 w 2789499"/>
              <a:gd name="connsiteY4" fmla="*/ 164587 h 326633"/>
              <a:gd name="connsiteX5" fmla="*/ 2789499 w 2789499"/>
              <a:gd name="connsiteY5" fmla="*/ 48840 h 326633"/>
              <a:gd name="connsiteX6" fmla="*/ 2326512 w 2789499"/>
              <a:gd name="connsiteY6" fmla="*/ 106714 h 32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499" h="326633">
                <a:moveTo>
                  <a:pt x="0" y="326633"/>
                </a:moveTo>
                <a:cubicBezTo>
                  <a:pt x="88739" y="299625"/>
                  <a:pt x="174377" y="258621"/>
                  <a:pt x="266218" y="245610"/>
                </a:cubicBezTo>
                <a:cubicBezTo>
                  <a:pt x="1338392" y="93718"/>
                  <a:pt x="1574110" y="126586"/>
                  <a:pt x="2696902" y="106714"/>
                </a:cubicBezTo>
                <a:cubicBezTo>
                  <a:pt x="2700760" y="122147"/>
                  <a:pt x="2724361" y="152168"/>
                  <a:pt x="2708476" y="153013"/>
                </a:cubicBezTo>
                <a:cubicBezTo>
                  <a:pt x="2342441" y="172483"/>
                  <a:pt x="1383841" y="453926"/>
                  <a:pt x="1608881" y="164587"/>
                </a:cubicBezTo>
                <a:cubicBezTo>
                  <a:pt x="1851648" y="-147544"/>
                  <a:pt x="2395960" y="87422"/>
                  <a:pt x="2789499" y="48840"/>
                </a:cubicBezTo>
                <a:cubicBezTo>
                  <a:pt x="2239366" y="183317"/>
                  <a:pt x="2154216" y="313467"/>
                  <a:pt x="2326512" y="106714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0" name="سحابة 19">
            <a:extLst>
              <a:ext uri="{FF2B5EF4-FFF2-40B4-BE49-F238E27FC236}">
                <a16:creationId xmlns:a16="http://schemas.microsoft.com/office/drawing/2014/main" id="{A72DB64A-D194-4DE6-A824-C423EDCF1B71}"/>
              </a:ext>
            </a:extLst>
          </p:cNvPr>
          <p:cNvSpPr/>
          <p:nvPr/>
        </p:nvSpPr>
        <p:spPr>
          <a:xfrm rot="5752637">
            <a:off x="-3020994" y="4305785"/>
            <a:ext cx="5069713" cy="2384385"/>
          </a:xfrm>
          <a:prstGeom prst="cloud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296611" y="240742"/>
            <a:ext cx="6645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5400" dirty="0">
                <a:solidFill>
                  <a:srgbClr val="F5513C"/>
                </a:solidFill>
              </a:rPr>
              <a:t>أسباب التنمر</a:t>
            </a:r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1146197" y="1876781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4" name="مربع نص 93">
            <a:extLst>
              <a:ext uri="{FF2B5EF4-FFF2-40B4-BE49-F238E27FC236}">
                <a16:creationId xmlns:a16="http://schemas.microsoft.com/office/drawing/2014/main" id="{FEB3B30B-DADA-493C-B933-6F1F028C79AD}"/>
              </a:ext>
            </a:extLst>
          </p:cNvPr>
          <p:cNvSpPr txBox="1"/>
          <p:nvPr/>
        </p:nvSpPr>
        <p:spPr>
          <a:xfrm>
            <a:off x="4890699" y="3096456"/>
            <a:ext cx="368746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>
                <a:solidFill>
                  <a:srgbClr val="F5513C"/>
                </a:solidFill>
              </a:rPr>
              <a:t>عدم تشكيل صداقات</a:t>
            </a:r>
          </a:p>
          <a:p>
            <a:pPr algn="ctr"/>
            <a:r>
              <a:rPr lang="ar-SA" sz="1600" b="1" dirty="0"/>
              <a:t> تُساهم الصداقة في تقليل التنمر في المجتمع، حيث إنّ معظم المتنمرين ليس لديهم علاقات صداقة متينة.</a:t>
            </a:r>
            <a:endParaRPr lang="en-US" sz="1600" b="1" dirty="0"/>
          </a:p>
          <a:p>
            <a:pPr algn="ctr"/>
            <a:r>
              <a:rPr lang="en-US" sz="1600" b="1" dirty="0"/>
              <a:t>Not forming friendships</a:t>
            </a:r>
          </a:p>
          <a:p>
            <a:pPr algn="ctr"/>
            <a:r>
              <a:rPr lang="en-US" sz="1600" b="1" dirty="0"/>
              <a:t>  Friendship contributes to reducing bullying in society, as most bullies do not have strong friendship relationships.</a:t>
            </a:r>
            <a:endParaRPr lang="ar-SA" sz="1600" b="1" dirty="0"/>
          </a:p>
        </p:txBody>
      </p:sp>
      <p:sp>
        <p:nvSpPr>
          <p:cNvPr id="98" name="مربع نص 97">
            <a:extLst>
              <a:ext uri="{FF2B5EF4-FFF2-40B4-BE49-F238E27FC236}">
                <a16:creationId xmlns:a16="http://schemas.microsoft.com/office/drawing/2014/main" id="{A73642FA-BA67-42B9-8E57-4308506DD9F7}"/>
              </a:ext>
            </a:extLst>
          </p:cNvPr>
          <p:cNvSpPr txBox="1"/>
          <p:nvPr/>
        </p:nvSpPr>
        <p:spPr>
          <a:xfrm>
            <a:off x="8578169" y="3372243"/>
            <a:ext cx="302623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b="1" dirty="0">
                <a:solidFill>
                  <a:srgbClr val="F5513C"/>
                </a:solidFill>
              </a:rPr>
              <a:t>الخلافات العائلية</a:t>
            </a:r>
          </a:p>
          <a:p>
            <a:pPr algn="ctr"/>
            <a:r>
              <a:rPr lang="ar-SA" b="1" dirty="0"/>
              <a:t> بحيث ينقل المتنمّر ما اختبره في بيئته المنزلية إلى غيره بهدف إيذائهم</a:t>
            </a:r>
            <a:endParaRPr lang="ar-EG" b="1" dirty="0"/>
          </a:p>
          <a:p>
            <a:pPr algn="ctr"/>
            <a:r>
              <a:rPr lang="en-US" b="1" dirty="0"/>
              <a:t>Family disputes</a:t>
            </a:r>
          </a:p>
          <a:p>
            <a:pPr algn="ctr"/>
            <a:r>
              <a:rPr lang="en-US" b="1" dirty="0"/>
              <a:t>  So the bully transfers what he experienced in his home environment to others with the aim of harming them</a:t>
            </a:r>
            <a:endParaRPr lang="ar-SA" b="1" dirty="0"/>
          </a:p>
        </p:txBody>
      </p:sp>
      <p:sp>
        <p:nvSpPr>
          <p:cNvPr id="99" name="مربع نص 98">
            <a:extLst>
              <a:ext uri="{FF2B5EF4-FFF2-40B4-BE49-F238E27FC236}">
                <a16:creationId xmlns:a16="http://schemas.microsoft.com/office/drawing/2014/main" id="{9FBAD0D5-3BC0-4F96-965A-3E5E418BB751}"/>
              </a:ext>
            </a:extLst>
          </p:cNvPr>
          <p:cNvSpPr txBox="1"/>
          <p:nvPr/>
        </p:nvSpPr>
        <p:spPr>
          <a:xfrm>
            <a:off x="986252" y="3159350"/>
            <a:ext cx="330209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>
                <a:solidFill>
                  <a:srgbClr val="F5513C"/>
                </a:solidFill>
              </a:rPr>
              <a:t>الاحساس بالغيرة</a:t>
            </a:r>
          </a:p>
          <a:p>
            <a:pPr algn="ctr"/>
            <a:r>
              <a:rPr lang="ar-SA" sz="1600" b="1" dirty="0"/>
              <a:t> يتعمّد المُتنمر إيذاء الناس عندما يتحوّل الاهتمام والحب لشخص آخر سواه بهدف إثبات الذات. </a:t>
            </a:r>
            <a:endParaRPr lang="en-US" sz="1600" b="1" dirty="0"/>
          </a:p>
          <a:p>
            <a:pPr algn="ctr"/>
            <a:r>
              <a:rPr lang="en-US" sz="1600" b="1" dirty="0"/>
              <a:t>Feeling jealous</a:t>
            </a:r>
          </a:p>
          <a:p>
            <a:pPr algn="ctr"/>
            <a:r>
              <a:rPr lang="en-US" sz="1600" b="1" dirty="0"/>
              <a:t>  A bully intentionally hurts people when he transfers attention and love to someone other than himself for the purpose of self-</a:t>
            </a:r>
            <a:r>
              <a:rPr lang="en-US" sz="1600" b="1" dirty="0" err="1"/>
              <a:t>provement</a:t>
            </a:r>
            <a:r>
              <a:rPr lang="en-US" sz="1600" b="1" dirty="0"/>
              <a:t>.</a:t>
            </a:r>
            <a:endParaRPr lang="ar-SA" sz="1600" b="1" dirty="0"/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F6462B42-86CA-4706-8E23-595324CB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159" y="2259954"/>
            <a:ext cx="1072989" cy="1072989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D267858E-ED47-43F9-A29F-AF416FA89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601" y="1665543"/>
            <a:ext cx="1194920" cy="1188823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C39FF3D8-A017-44F3-A178-3D82BB26A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807" y="1858861"/>
            <a:ext cx="944962" cy="1237595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82840759-23FE-4BA6-874F-63298A83D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892" y="5497977"/>
            <a:ext cx="1871634" cy="1609483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82840759-23FE-4BA6-874F-63298A83D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8017" y="5497976"/>
            <a:ext cx="1871634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0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انفجار: 8 نقاط 6">
            <a:extLst>
              <a:ext uri="{FF2B5EF4-FFF2-40B4-BE49-F238E27FC236}">
                <a16:creationId xmlns:a16="http://schemas.microsoft.com/office/drawing/2014/main" id="{3744ED8B-258E-4252-BD77-335BDFE0D2DC}"/>
              </a:ext>
            </a:extLst>
          </p:cNvPr>
          <p:cNvSpPr/>
          <p:nvPr/>
        </p:nvSpPr>
        <p:spPr>
          <a:xfrm>
            <a:off x="9006534" y="-648016"/>
            <a:ext cx="3467517" cy="3467517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384358" y="6223182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شكل حر: شكل 15">
            <a:extLst>
              <a:ext uri="{FF2B5EF4-FFF2-40B4-BE49-F238E27FC236}">
                <a16:creationId xmlns:a16="http://schemas.microsoft.com/office/drawing/2014/main" id="{160A650B-51D4-41B4-B19A-BEB8E1C507E1}"/>
              </a:ext>
            </a:extLst>
          </p:cNvPr>
          <p:cNvSpPr/>
          <p:nvPr/>
        </p:nvSpPr>
        <p:spPr>
          <a:xfrm rot="184487">
            <a:off x="4714267" y="1209516"/>
            <a:ext cx="2789499" cy="326633"/>
          </a:xfrm>
          <a:custGeom>
            <a:avLst/>
            <a:gdLst>
              <a:gd name="connsiteX0" fmla="*/ 0 w 2789499"/>
              <a:gd name="connsiteY0" fmla="*/ 326633 h 326633"/>
              <a:gd name="connsiteX1" fmla="*/ 266218 w 2789499"/>
              <a:gd name="connsiteY1" fmla="*/ 245610 h 326633"/>
              <a:gd name="connsiteX2" fmla="*/ 2696902 w 2789499"/>
              <a:gd name="connsiteY2" fmla="*/ 106714 h 326633"/>
              <a:gd name="connsiteX3" fmla="*/ 2708476 w 2789499"/>
              <a:gd name="connsiteY3" fmla="*/ 153013 h 326633"/>
              <a:gd name="connsiteX4" fmla="*/ 1608881 w 2789499"/>
              <a:gd name="connsiteY4" fmla="*/ 164587 h 326633"/>
              <a:gd name="connsiteX5" fmla="*/ 2789499 w 2789499"/>
              <a:gd name="connsiteY5" fmla="*/ 48840 h 326633"/>
              <a:gd name="connsiteX6" fmla="*/ 2326512 w 2789499"/>
              <a:gd name="connsiteY6" fmla="*/ 106714 h 32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499" h="326633">
                <a:moveTo>
                  <a:pt x="0" y="326633"/>
                </a:moveTo>
                <a:cubicBezTo>
                  <a:pt x="88739" y="299625"/>
                  <a:pt x="174377" y="258621"/>
                  <a:pt x="266218" y="245610"/>
                </a:cubicBezTo>
                <a:cubicBezTo>
                  <a:pt x="1338392" y="93718"/>
                  <a:pt x="1574110" y="126586"/>
                  <a:pt x="2696902" y="106714"/>
                </a:cubicBezTo>
                <a:cubicBezTo>
                  <a:pt x="2700760" y="122147"/>
                  <a:pt x="2724361" y="152168"/>
                  <a:pt x="2708476" y="153013"/>
                </a:cubicBezTo>
                <a:cubicBezTo>
                  <a:pt x="2342441" y="172483"/>
                  <a:pt x="1383841" y="453926"/>
                  <a:pt x="1608881" y="164587"/>
                </a:cubicBezTo>
                <a:cubicBezTo>
                  <a:pt x="1851648" y="-147544"/>
                  <a:pt x="2395960" y="87422"/>
                  <a:pt x="2789499" y="48840"/>
                </a:cubicBezTo>
                <a:cubicBezTo>
                  <a:pt x="2239366" y="183317"/>
                  <a:pt x="2154216" y="313467"/>
                  <a:pt x="2326512" y="106714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3840625" y="319225"/>
            <a:ext cx="4536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5400" dirty="0">
                <a:solidFill>
                  <a:srgbClr val="F5513C"/>
                </a:solidFill>
              </a:rPr>
              <a:t>أثار التنمر</a:t>
            </a:r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1146197" y="1876781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4" name="مربع نص 63">
            <a:extLst>
              <a:ext uri="{FF2B5EF4-FFF2-40B4-BE49-F238E27FC236}">
                <a16:creationId xmlns:a16="http://schemas.microsoft.com/office/drawing/2014/main" id="{BAFE3C43-C8D8-450E-9B88-4304152311AE}"/>
              </a:ext>
            </a:extLst>
          </p:cNvPr>
          <p:cNvSpPr txBox="1"/>
          <p:nvPr/>
        </p:nvSpPr>
        <p:spPr>
          <a:xfrm>
            <a:off x="462202" y="4780546"/>
            <a:ext cx="24105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b="1" dirty="0"/>
              <a:t>انخفاض التحصيل الدراسيّ، والمعدل التراكميّ، ونتائج الاختبارات</a:t>
            </a:r>
            <a:endParaRPr lang="en-US" b="1" dirty="0"/>
          </a:p>
          <a:p>
            <a:pPr algn="ctr"/>
            <a:r>
              <a:rPr lang="en-US" b="1" dirty="0"/>
              <a:t>Decreased academic achievement, cumulative GPA, and test scores</a:t>
            </a:r>
            <a:endParaRPr lang="ar-SA" b="1" dirty="0"/>
          </a:p>
        </p:txBody>
      </p:sp>
      <p:sp>
        <p:nvSpPr>
          <p:cNvPr id="94" name="مربع نص 93">
            <a:extLst>
              <a:ext uri="{FF2B5EF4-FFF2-40B4-BE49-F238E27FC236}">
                <a16:creationId xmlns:a16="http://schemas.microsoft.com/office/drawing/2014/main" id="{FEB3B30B-DADA-493C-B933-6F1F028C79AD}"/>
              </a:ext>
            </a:extLst>
          </p:cNvPr>
          <p:cNvSpPr txBox="1"/>
          <p:nvPr/>
        </p:nvSpPr>
        <p:spPr>
          <a:xfrm>
            <a:off x="198783" y="2284306"/>
            <a:ext cx="2937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600" b="1" dirty="0"/>
              <a:t>صعوبة بالغة في التركيز وانخفاض إنتاجية الفرد و الابتعاد عن الأنشطة التي اعتاد على ممارستها</a:t>
            </a:r>
            <a:endParaRPr lang="en-US" sz="1600" b="1" dirty="0"/>
          </a:p>
          <a:p>
            <a:pPr algn="ctr"/>
            <a:r>
              <a:rPr lang="en-US" sz="1600" b="1" dirty="0"/>
              <a:t>Extreme difficulty in concentrating, low productivity of the individual, and avoidance of the activities he is accustomed to practicing</a:t>
            </a:r>
            <a:endParaRPr lang="ar-SA" sz="1600" b="1" dirty="0"/>
          </a:p>
        </p:txBody>
      </p:sp>
      <p:sp>
        <p:nvSpPr>
          <p:cNvPr id="95" name="مربع نص 94">
            <a:extLst>
              <a:ext uri="{FF2B5EF4-FFF2-40B4-BE49-F238E27FC236}">
                <a16:creationId xmlns:a16="http://schemas.microsoft.com/office/drawing/2014/main" id="{1EC9CB1E-966A-4043-99EB-57E406CA8404}"/>
              </a:ext>
            </a:extLst>
          </p:cNvPr>
          <p:cNvSpPr txBox="1"/>
          <p:nvPr/>
        </p:nvSpPr>
        <p:spPr>
          <a:xfrm>
            <a:off x="3778297" y="4780546"/>
            <a:ext cx="25450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انخفاض الثقة و إيجاد صعوبة في الحصول على الصداقات</a:t>
            </a:r>
            <a:endParaRPr lang="en-US" sz="2000" b="1" dirty="0"/>
          </a:p>
          <a:p>
            <a:pPr algn="ctr"/>
            <a:r>
              <a:rPr lang="en-US" sz="2000" b="1" dirty="0"/>
              <a:t>Low confidence and finding it difficult to make friends</a:t>
            </a:r>
            <a:endParaRPr lang="ar-SA" sz="2000" b="1" dirty="0"/>
          </a:p>
        </p:txBody>
      </p:sp>
      <p:sp>
        <p:nvSpPr>
          <p:cNvPr id="96" name="مربع نص 95">
            <a:extLst>
              <a:ext uri="{FF2B5EF4-FFF2-40B4-BE49-F238E27FC236}">
                <a16:creationId xmlns:a16="http://schemas.microsoft.com/office/drawing/2014/main" id="{3E6EC00F-E48E-470E-9807-E7A12102CEC3}"/>
              </a:ext>
            </a:extLst>
          </p:cNvPr>
          <p:cNvSpPr txBox="1"/>
          <p:nvPr/>
        </p:nvSpPr>
        <p:spPr>
          <a:xfrm>
            <a:off x="7229010" y="4657436"/>
            <a:ext cx="2656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b="1" dirty="0"/>
              <a:t>انخفاض احترام الذات والنفس ،الشعور بالغضب ، والضعف، والعزلة. </a:t>
            </a:r>
            <a:endParaRPr lang="en-US" b="1" dirty="0"/>
          </a:p>
          <a:p>
            <a:pPr algn="ctr"/>
            <a:r>
              <a:rPr lang="en-US" b="1" dirty="0"/>
              <a:t>Low self-esteem and feelings of anger, weakness, and isolation.</a:t>
            </a:r>
            <a:endParaRPr lang="ar-SA" b="1" dirty="0"/>
          </a:p>
        </p:txBody>
      </p:sp>
      <p:sp>
        <p:nvSpPr>
          <p:cNvPr id="97" name="مربع نص 96">
            <a:extLst>
              <a:ext uri="{FF2B5EF4-FFF2-40B4-BE49-F238E27FC236}">
                <a16:creationId xmlns:a16="http://schemas.microsoft.com/office/drawing/2014/main" id="{B1E9E897-167A-4C3C-AF72-AB5FBD4FDC05}"/>
              </a:ext>
            </a:extLst>
          </p:cNvPr>
          <p:cNvSpPr txBox="1"/>
          <p:nvPr/>
        </p:nvSpPr>
        <p:spPr>
          <a:xfrm>
            <a:off x="4267200" y="3540374"/>
            <a:ext cx="200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dirty="0"/>
              <a:t>. </a:t>
            </a:r>
          </a:p>
        </p:txBody>
      </p:sp>
      <p:sp>
        <p:nvSpPr>
          <p:cNvPr id="98" name="مربع نص 97">
            <a:extLst>
              <a:ext uri="{FF2B5EF4-FFF2-40B4-BE49-F238E27FC236}">
                <a16:creationId xmlns:a16="http://schemas.microsoft.com/office/drawing/2014/main" id="{A73642FA-BA67-42B9-8E57-4308506DD9F7}"/>
              </a:ext>
            </a:extLst>
          </p:cNvPr>
          <p:cNvSpPr txBox="1"/>
          <p:nvPr/>
        </p:nvSpPr>
        <p:spPr>
          <a:xfrm>
            <a:off x="7229010" y="2653146"/>
            <a:ext cx="26836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600" b="1" dirty="0"/>
              <a:t>فقدان الشهية وآلام في المعدة. حدوث تغيّرات في روتين النوم </a:t>
            </a:r>
            <a:endParaRPr lang="en-US" sz="1600" b="1" dirty="0"/>
          </a:p>
          <a:p>
            <a:pPr algn="ctr"/>
            <a:r>
              <a:rPr lang="en-US" sz="1600" b="1" dirty="0"/>
              <a:t>Loss of appetite and stomach pain. Changes in sleep routine</a:t>
            </a:r>
            <a:endParaRPr lang="ar-SA" sz="1600" b="1" dirty="0"/>
          </a:p>
        </p:txBody>
      </p:sp>
      <p:sp>
        <p:nvSpPr>
          <p:cNvPr id="99" name="مربع نص 98">
            <a:extLst>
              <a:ext uri="{FF2B5EF4-FFF2-40B4-BE49-F238E27FC236}">
                <a16:creationId xmlns:a16="http://schemas.microsoft.com/office/drawing/2014/main" id="{9FBAD0D5-3BC0-4F96-965A-3E5E418BB751}"/>
              </a:ext>
            </a:extLst>
          </p:cNvPr>
          <p:cNvSpPr txBox="1"/>
          <p:nvPr/>
        </p:nvSpPr>
        <p:spPr>
          <a:xfrm>
            <a:off x="3490421" y="2620496"/>
            <a:ext cx="3347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b="1" dirty="0"/>
              <a:t>انخفاض التحصيل الدراسيّ، والمعدل التراكميّ، ونتائج الاختبارات</a:t>
            </a:r>
            <a:endParaRPr lang="en-US" b="1" dirty="0"/>
          </a:p>
          <a:p>
            <a:pPr algn="ctr"/>
            <a:r>
              <a:rPr lang="en-US" b="1" dirty="0"/>
              <a:t>Decreased academic achievement, cumulative GPA, and test scores</a:t>
            </a:r>
            <a:endParaRPr lang="ar-SA" b="1" dirty="0"/>
          </a:p>
        </p:txBody>
      </p:sp>
      <p:pic>
        <p:nvPicPr>
          <p:cNvPr id="252" name="صورة 251">
            <a:extLst>
              <a:ext uri="{FF2B5EF4-FFF2-40B4-BE49-F238E27FC236}">
                <a16:creationId xmlns:a16="http://schemas.microsoft.com/office/drawing/2014/main" id="{8E161771-C032-4C9A-B77E-5E8F41ECF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382" y="2405974"/>
            <a:ext cx="2371797" cy="2607642"/>
          </a:xfrm>
          <a:prstGeom prst="rect">
            <a:avLst/>
          </a:prstGeom>
        </p:spPr>
      </p:pic>
      <p:pic>
        <p:nvPicPr>
          <p:cNvPr id="253" name="صورة 252">
            <a:extLst>
              <a:ext uri="{FF2B5EF4-FFF2-40B4-BE49-F238E27FC236}">
                <a16:creationId xmlns:a16="http://schemas.microsoft.com/office/drawing/2014/main" id="{39EC67FA-C4B3-4869-871F-90A17278B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791" y="1927659"/>
            <a:ext cx="707197" cy="713294"/>
          </a:xfrm>
          <a:prstGeom prst="rect">
            <a:avLst/>
          </a:prstGeom>
        </p:spPr>
      </p:pic>
      <p:pic>
        <p:nvPicPr>
          <p:cNvPr id="254" name="صورة 253">
            <a:extLst>
              <a:ext uri="{FF2B5EF4-FFF2-40B4-BE49-F238E27FC236}">
                <a16:creationId xmlns:a16="http://schemas.microsoft.com/office/drawing/2014/main" id="{4458C40D-5CD4-4BEA-B933-1FD864C6C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822" y="1749762"/>
            <a:ext cx="743776" cy="737680"/>
          </a:xfrm>
          <a:prstGeom prst="rect">
            <a:avLst/>
          </a:prstGeom>
        </p:spPr>
      </p:pic>
      <p:pic>
        <p:nvPicPr>
          <p:cNvPr id="255" name="صورة 254">
            <a:extLst>
              <a:ext uri="{FF2B5EF4-FFF2-40B4-BE49-F238E27FC236}">
                <a16:creationId xmlns:a16="http://schemas.microsoft.com/office/drawing/2014/main" id="{3392B371-58B7-4997-B79B-DBF41EF93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4526" y="1497084"/>
            <a:ext cx="548688" cy="713294"/>
          </a:xfrm>
          <a:prstGeom prst="rect">
            <a:avLst/>
          </a:prstGeom>
        </p:spPr>
      </p:pic>
      <p:pic>
        <p:nvPicPr>
          <p:cNvPr id="256" name="صورة 255">
            <a:extLst>
              <a:ext uri="{FF2B5EF4-FFF2-40B4-BE49-F238E27FC236}">
                <a16:creationId xmlns:a16="http://schemas.microsoft.com/office/drawing/2014/main" id="{95390C45-C066-4160-BED8-5B5547B92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647" y="3943919"/>
            <a:ext cx="579170" cy="676715"/>
          </a:xfrm>
          <a:prstGeom prst="rect">
            <a:avLst/>
          </a:prstGeom>
        </p:spPr>
      </p:pic>
      <p:pic>
        <p:nvPicPr>
          <p:cNvPr id="257" name="صورة 256">
            <a:extLst>
              <a:ext uri="{FF2B5EF4-FFF2-40B4-BE49-F238E27FC236}">
                <a16:creationId xmlns:a16="http://schemas.microsoft.com/office/drawing/2014/main" id="{E3F9B0A4-57DA-4167-A76A-639719890A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5651" y="3899196"/>
            <a:ext cx="688908" cy="688908"/>
          </a:xfrm>
          <a:prstGeom prst="rect">
            <a:avLst/>
          </a:prstGeom>
        </p:spPr>
      </p:pic>
      <p:pic>
        <p:nvPicPr>
          <p:cNvPr id="258" name="صورة 257">
            <a:extLst>
              <a:ext uri="{FF2B5EF4-FFF2-40B4-BE49-F238E27FC236}">
                <a16:creationId xmlns:a16="http://schemas.microsoft.com/office/drawing/2014/main" id="{0DE72059-65FC-4414-A5A9-5AEC02A168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791" y="3820825"/>
            <a:ext cx="749873" cy="737680"/>
          </a:xfrm>
          <a:prstGeom prst="rect">
            <a:avLst/>
          </a:prstGeom>
        </p:spPr>
      </p:pic>
      <p:sp>
        <p:nvSpPr>
          <p:cNvPr id="27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10935122" y="6223183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3850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انفجار: 8 نقاط 6">
            <a:extLst>
              <a:ext uri="{FF2B5EF4-FFF2-40B4-BE49-F238E27FC236}">
                <a16:creationId xmlns:a16="http://schemas.microsoft.com/office/drawing/2014/main" id="{3744ED8B-258E-4252-BD77-335BDFE0D2DC}"/>
              </a:ext>
            </a:extLst>
          </p:cNvPr>
          <p:cNvSpPr/>
          <p:nvPr/>
        </p:nvSpPr>
        <p:spPr>
          <a:xfrm>
            <a:off x="9895389" y="-446670"/>
            <a:ext cx="2519680" cy="2519680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384359" y="4677637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0" name="سحابة 19">
            <a:extLst>
              <a:ext uri="{FF2B5EF4-FFF2-40B4-BE49-F238E27FC236}">
                <a16:creationId xmlns:a16="http://schemas.microsoft.com/office/drawing/2014/main" id="{A72DB64A-D194-4DE6-A824-C423EDCF1B71}"/>
              </a:ext>
            </a:extLst>
          </p:cNvPr>
          <p:cNvSpPr/>
          <p:nvPr/>
        </p:nvSpPr>
        <p:spPr>
          <a:xfrm>
            <a:off x="4039564" y="6204031"/>
            <a:ext cx="5069713" cy="2384385"/>
          </a:xfrm>
          <a:prstGeom prst="cloud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296611" y="702386"/>
            <a:ext cx="7598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4000" dirty="0">
                <a:solidFill>
                  <a:srgbClr val="F5513C"/>
                </a:solidFill>
              </a:rPr>
              <a:t>الأثار المترتبة على المتنمرين</a:t>
            </a:r>
            <a:endParaRPr lang="en-US" sz="4000" dirty="0">
              <a:solidFill>
                <a:srgbClr val="F5513C"/>
              </a:solidFill>
            </a:endParaRPr>
          </a:p>
          <a:p>
            <a:pPr algn="ctr"/>
            <a:r>
              <a:rPr lang="en-US" sz="4000" dirty="0">
                <a:solidFill>
                  <a:srgbClr val="F5513C"/>
                </a:solidFill>
              </a:rPr>
              <a:t>Effects of bullies</a:t>
            </a:r>
            <a:endParaRPr lang="ar-SA" sz="4000" dirty="0">
              <a:solidFill>
                <a:srgbClr val="F5513C"/>
              </a:solidFill>
            </a:endParaRPr>
          </a:p>
        </p:txBody>
      </p:sp>
      <p:sp>
        <p:nvSpPr>
          <p:cNvPr id="24" name="انفجار: 8 نقاط 23">
            <a:extLst>
              <a:ext uri="{FF2B5EF4-FFF2-40B4-BE49-F238E27FC236}">
                <a16:creationId xmlns:a16="http://schemas.microsoft.com/office/drawing/2014/main" id="{8513AB7B-796A-4BA8-9722-923426923430}"/>
              </a:ext>
            </a:extLst>
          </p:cNvPr>
          <p:cNvSpPr/>
          <p:nvPr/>
        </p:nvSpPr>
        <p:spPr>
          <a:xfrm>
            <a:off x="-1475901" y="5598160"/>
            <a:ext cx="2519680" cy="2519680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0536984" y="1624067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2" name="مربع نص 211">
            <a:extLst>
              <a:ext uri="{FF2B5EF4-FFF2-40B4-BE49-F238E27FC236}">
                <a16:creationId xmlns:a16="http://schemas.microsoft.com/office/drawing/2014/main" id="{DB286AF6-1B83-459C-9BDE-DAA76B27A5B0}"/>
              </a:ext>
            </a:extLst>
          </p:cNvPr>
          <p:cNvSpPr txBox="1"/>
          <p:nvPr/>
        </p:nvSpPr>
        <p:spPr>
          <a:xfrm>
            <a:off x="8295862" y="2828244"/>
            <a:ext cx="33857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شعور المتنمّر بكره المدرسة، وتركها في وقت مبكر.</a:t>
            </a:r>
            <a:endParaRPr lang="en-US" sz="2000" b="1" dirty="0"/>
          </a:p>
          <a:p>
            <a:pPr algn="ctr"/>
            <a:r>
              <a:rPr lang="en-US" sz="2000" b="1" dirty="0"/>
              <a:t>The bully feels that he hates school and leaves early.</a:t>
            </a:r>
            <a:endParaRPr lang="ar-SA" sz="2000" b="1" dirty="0"/>
          </a:p>
        </p:txBody>
      </p:sp>
      <p:sp>
        <p:nvSpPr>
          <p:cNvPr id="308" name="مربع نص 307">
            <a:extLst>
              <a:ext uri="{FF2B5EF4-FFF2-40B4-BE49-F238E27FC236}">
                <a16:creationId xmlns:a16="http://schemas.microsoft.com/office/drawing/2014/main" id="{49B465A9-924B-48A0-BCF5-D5665B84E6CD}"/>
              </a:ext>
            </a:extLst>
          </p:cNvPr>
          <p:cNvSpPr txBox="1"/>
          <p:nvPr/>
        </p:nvSpPr>
        <p:spPr>
          <a:xfrm>
            <a:off x="4292439" y="3064844"/>
            <a:ext cx="26251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تدمير ممتلكات المدرسة. </a:t>
            </a:r>
            <a:endParaRPr lang="en-US" sz="2000" b="1" dirty="0"/>
          </a:p>
          <a:p>
            <a:pPr algn="ctr"/>
            <a:r>
              <a:rPr lang="en-US" sz="2000" b="1" dirty="0"/>
              <a:t>Destruction of school property.</a:t>
            </a:r>
            <a:endParaRPr lang="ar-SA" sz="2000" b="1" dirty="0"/>
          </a:p>
        </p:txBody>
      </p:sp>
      <p:sp>
        <p:nvSpPr>
          <p:cNvPr id="310" name="مربع نص 309">
            <a:extLst>
              <a:ext uri="{FF2B5EF4-FFF2-40B4-BE49-F238E27FC236}">
                <a16:creationId xmlns:a16="http://schemas.microsoft.com/office/drawing/2014/main" id="{2F0158C2-A95B-4D6E-8EDC-267995DA1531}"/>
              </a:ext>
            </a:extLst>
          </p:cNvPr>
          <p:cNvSpPr txBox="1"/>
          <p:nvPr/>
        </p:nvSpPr>
        <p:spPr>
          <a:xfrm>
            <a:off x="8885652" y="5091817"/>
            <a:ext cx="27959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ar-EG"/>
            </a:defPPr>
            <a:lvl1pPr algn="ctr">
              <a:defRPr sz="2000"/>
            </a:lvl1pPr>
          </a:lstStyle>
          <a:p>
            <a:r>
              <a:rPr lang="ar-SA" b="1" dirty="0"/>
              <a:t>الدخول في المشاجرات المستمرة. </a:t>
            </a:r>
            <a:endParaRPr lang="en-US" b="1" dirty="0"/>
          </a:p>
          <a:p>
            <a:r>
              <a:rPr lang="en-US" b="1" dirty="0"/>
              <a:t>Getting into constant quarrels.</a:t>
            </a:r>
            <a:endParaRPr lang="ar-SA" b="1" dirty="0"/>
          </a:p>
        </p:txBody>
      </p:sp>
      <p:sp>
        <p:nvSpPr>
          <p:cNvPr id="312" name="مربع نص 311">
            <a:extLst>
              <a:ext uri="{FF2B5EF4-FFF2-40B4-BE49-F238E27FC236}">
                <a16:creationId xmlns:a16="http://schemas.microsoft.com/office/drawing/2014/main" id="{0724928A-2A49-48C2-BE82-EA87437F831B}"/>
              </a:ext>
            </a:extLst>
          </p:cNvPr>
          <p:cNvSpPr txBox="1"/>
          <p:nvPr/>
        </p:nvSpPr>
        <p:spPr>
          <a:xfrm>
            <a:off x="3966049" y="5244217"/>
            <a:ext cx="32961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زيادة احتمالية السرقة، وممارسة السلوك العنيف</a:t>
            </a:r>
            <a:endParaRPr lang="en-US" sz="2000" b="1" dirty="0"/>
          </a:p>
          <a:p>
            <a:pPr algn="ctr"/>
            <a:r>
              <a:rPr lang="en-US" sz="2000" b="1" dirty="0"/>
              <a:t>Increased likelihood of theft and violent behavior</a:t>
            </a:r>
            <a:endParaRPr lang="ar-SA" sz="2000" b="1" dirty="0"/>
          </a:p>
        </p:txBody>
      </p:sp>
      <p:pic>
        <p:nvPicPr>
          <p:cNvPr id="318" name="صورة 317">
            <a:extLst>
              <a:ext uri="{FF2B5EF4-FFF2-40B4-BE49-F238E27FC236}">
                <a16:creationId xmlns:a16="http://schemas.microsoft.com/office/drawing/2014/main" id="{A5AEBF6A-61B2-42D6-B1CB-D589066F3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44" y="1277121"/>
            <a:ext cx="3688400" cy="3346994"/>
          </a:xfrm>
          <a:prstGeom prst="rect">
            <a:avLst/>
          </a:prstGeom>
        </p:spPr>
      </p:pic>
      <p:pic>
        <p:nvPicPr>
          <p:cNvPr id="319" name="صورة 318">
            <a:extLst>
              <a:ext uri="{FF2B5EF4-FFF2-40B4-BE49-F238E27FC236}">
                <a16:creationId xmlns:a16="http://schemas.microsoft.com/office/drawing/2014/main" id="{AD6122DE-DA95-435B-B0A2-723FA51DB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776" y="2073010"/>
            <a:ext cx="1109568" cy="877900"/>
          </a:xfrm>
          <a:prstGeom prst="rect">
            <a:avLst/>
          </a:prstGeom>
        </p:spPr>
      </p:pic>
      <p:pic>
        <p:nvPicPr>
          <p:cNvPr id="320" name="صورة 319">
            <a:extLst>
              <a:ext uri="{FF2B5EF4-FFF2-40B4-BE49-F238E27FC236}">
                <a16:creationId xmlns:a16="http://schemas.microsoft.com/office/drawing/2014/main" id="{DBA0E03E-57F9-49B5-BB4F-14E236E2C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5865" y="2025825"/>
            <a:ext cx="676715" cy="780356"/>
          </a:xfrm>
          <a:prstGeom prst="rect">
            <a:avLst/>
          </a:prstGeom>
        </p:spPr>
      </p:pic>
      <p:pic>
        <p:nvPicPr>
          <p:cNvPr id="321" name="صورة 320">
            <a:extLst>
              <a:ext uri="{FF2B5EF4-FFF2-40B4-BE49-F238E27FC236}">
                <a16:creationId xmlns:a16="http://schemas.microsoft.com/office/drawing/2014/main" id="{A49928C8-7A23-42FF-A1E9-DE3E8CDF8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803" y="4146263"/>
            <a:ext cx="810838" cy="810838"/>
          </a:xfrm>
          <a:prstGeom prst="rect">
            <a:avLst/>
          </a:prstGeom>
        </p:spPr>
      </p:pic>
      <p:pic>
        <p:nvPicPr>
          <p:cNvPr id="322" name="صورة 321">
            <a:extLst>
              <a:ext uri="{FF2B5EF4-FFF2-40B4-BE49-F238E27FC236}">
                <a16:creationId xmlns:a16="http://schemas.microsoft.com/office/drawing/2014/main" id="{7061394E-5EC7-472F-820A-AB59B5FF06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51" y="4111033"/>
            <a:ext cx="670618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9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انفجار: 8 نقاط 6">
            <a:extLst>
              <a:ext uri="{FF2B5EF4-FFF2-40B4-BE49-F238E27FC236}">
                <a16:creationId xmlns:a16="http://schemas.microsoft.com/office/drawing/2014/main" id="{3744ED8B-258E-4252-BD77-335BDFE0D2DC}"/>
              </a:ext>
            </a:extLst>
          </p:cNvPr>
          <p:cNvSpPr/>
          <p:nvPr/>
        </p:nvSpPr>
        <p:spPr>
          <a:xfrm>
            <a:off x="10522226" y="0"/>
            <a:ext cx="1669774" cy="2271638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نجمة: 7 نقاط 8">
            <a:extLst>
              <a:ext uri="{FF2B5EF4-FFF2-40B4-BE49-F238E27FC236}">
                <a16:creationId xmlns:a16="http://schemas.microsoft.com/office/drawing/2014/main" id="{B2FF13AB-674F-4BAC-BB6D-B0035C095B7B}"/>
              </a:ext>
            </a:extLst>
          </p:cNvPr>
          <p:cNvSpPr/>
          <p:nvPr/>
        </p:nvSpPr>
        <p:spPr>
          <a:xfrm rot="20457463">
            <a:off x="75886" y="4389072"/>
            <a:ext cx="558929" cy="558929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شكل حر: شكل 15">
            <a:extLst>
              <a:ext uri="{FF2B5EF4-FFF2-40B4-BE49-F238E27FC236}">
                <a16:creationId xmlns:a16="http://schemas.microsoft.com/office/drawing/2014/main" id="{160A650B-51D4-41B4-B19A-BEB8E1C507E1}"/>
              </a:ext>
            </a:extLst>
          </p:cNvPr>
          <p:cNvSpPr/>
          <p:nvPr/>
        </p:nvSpPr>
        <p:spPr>
          <a:xfrm rot="184487">
            <a:off x="4590907" y="980028"/>
            <a:ext cx="2789499" cy="326633"/>
          </a:xfrm>
          <a:custGeom>
            <a:avLst/>
            <a:gdLst>
              <a:gd name="connsiteX0" fmla="*/ 0 w 2789499"/>
              <a:gd name="connsiteY0" fmla="*/ 326633 h 326633"/>
              <a:gd name="connsiteX1" fmla="*/ 266218 w 2789499"/>
              <a:gd name="connsiteY1" fmla="*/ 245610 h 326633"/>
              <a:gd name="connsiteX2" fmla="*/ 2696902 w 2789499"/>
              <a:gd name="connsiteY2" fmla="*/ 106714 h 326633"/>
              <a:gd name="connsiteX3" fmla="*/ 2708476 w 2789499"/>
              <a:gd name="connsiteY3" fmla="*/ 153013 h 326633"/>
              <a:gd name="connsiteX4" fmla="*/ 1608881 w 2789499"/>
              <a:gd name="connsiteY4" fmla="*/ 164587 h 326633"/>
              <a:gd name="connsiteX5" fmla="*/ 2789499 w 2789499"/>
              <a:gd name="connsiteY5" fmla="*/ 48840 h 326633"/>
              <a:gd name="connsiteX6" fmla="*/ 2326512 w 2789499"/>
              <a:gd name="connsiteY6" fmla="*/ 106714 h 32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499" h="326633">
                <a:moveTo>
                  <a:pt x="0" y="326633"/>
                </a:moveTo>
                <a:cubicBezTo>
                  <a:pt x="88739" y="299625"/>
                  <a:pt x="174377" y="258621"/>
                  <a:pt x="266218" y="245610"/>
                </a:cubicBezTo>
                <a:cubicBezTo>
                  <a:pt x="1338392" y="93718"/>
                  <a:pt x="1574110" y="126586"/>
                  <a:pt x="2696902" y="106714"/>
                </a:cubicBezTo>
                <a:cubicBezTo>
                  <a:pt x="2700760" y="122147"/>
                  <a:pt x="2724361" y="152168"/>
                  <a:pt x="2708476" y="153013"/>
                </a:cubicBezTo>
                <a:cubicBezTo>
                  <a:pt x="2342441" y="172483"/>
                  <a:pt x="1383841" y="453926"/>
                  <a:pt x="1608881" y="164587"/>
                </a:cubicBezTo>
                <a:cubicBezTo>
                  <a:pt x="1851648" y="-147544"/>
                  <a:pt x="2395960" y="87422"/>
                  <a:pt x="2789499" y="48840"/>
                </a:cubicBezTo>
                <a:cubicBezTo>
                  <a:pt x="2239366" y="183317"/>
                  <a:pt x="2154216" y="313467"/>
                  <a:pt x="2326512" y="106714"/>
                </a:cubicBezTo>
              </a:path>
            </a:pathLst>
          </a:custGeom>
          <a:noFill/>
          <a:ln w="28575">
            <a:solidFill>
              <a:srgbClr val="1338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2315851" y="0"/>
            <a:ext cx="67934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3200" b="1" dirty="0">
                <a:solidFill>
                  <a:srgbClr val="F5513C"/>
                </a:solidFill>
              </a:rPr>
              <a:t>معالجة التنمر</a:t>
            </a:r>
            <a:endParaRPr lang="en-US" sz="3200" b="1" dirty="0">
              <a:solidFill>
                <a:srgbClr val="F5513C"/>
              </a:solidFill>
            </a:endParaRPr>
          </a:p>
          <a:p>
            <a:pPr algn="ctr"/>
            <a:r>
              <a:rPr lang="en-US" sz="3200" b="1" dirty="0">
                <a:solidFill>
                  <a:srgbClr val="F5513C"/>
                </a:solidFill>
              </a:rPr>
              <a:t>Addressing bullying</a:t>
            </a:r>
            <a:endParaRPr lang="ar-SA" sz="3200" b="1" dirty="0">
              <a:solidFill>
                <a:srgbClr val="F5513C"/>
              </a:solidFill>
            </a:endParaRPr>
          </a:p>
        </p:txBody>
      </p:sp>
      <p:sp>
        <p:nvSpPr>
          <p:cNvPr id="212" name="مربع نص 211">
            <a:extLst>
              <a:ext uri="{FF2B5EF4-FFF2-40B4-BE49-F238E27FC236}">
                <a16:creationId xmlns:a16="http://schemas.microsoft.com/office/drawing/2014/main" id="{DB286AF6-1B83-459C-9BDE-DAA76B27A5B0}"/>
              </a:ext>
            </a:extLst>
          </p:cNvPr>
          <p:cNvSpPr txBox="1"/>
          <p:nvPr/>
        </p:nvSpPr>
        <p:spPr>
          <a:xfrm>
            <a:off x="9191930" y="2796991"/>
            <a:ext cx="3000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ar-SA" sz="1600" b="1" dirty="0"/>
              <a:t>عدم إظهار أيّ ردة فعل إذا ما تعرض أحد للتنمّر من قبل آخرين</a:t>
            </a:r>
            <a:endParaRPr lang="en-US" sz="1600" b="1" dirty="0"/>
          </a:p>
          <a:p>
            <a:pPr lvl="1" algn="ctr"/>
            <a:r>
              <a:rPr lang="en-US" sz="1600" b="1" dirty="0"/>
              <a:t>Do not show any reaction if someone is bullied by others</a:t>
            </a:r>
            <a:endParaRPr lang="ar-SA" sz="1600" b="1" dirty="0"/>
          </a:p>
        </p:txBody>
      </p:sp>
      <p:sp>
        <p:nvSpPr>
          <p:cNvPr id="308" name="مربع نص 307">
            <a:extLst>
              <a:ext uri="{FF2B5EF4-FFF2-40B4-BE49-F238E27FC236}">
                <a16:creationId xmlns:a16="http://schemas.microsoft.com/office/drawing/2014/main" id="{49B465A9-924B-48A0-BCF5-D5665B84E6CD}"/>
              </a:ext>
            </a:extLst>
          </p:cNvPr>
          <p:cNvSpPr txBox="1"/>
          <p:nvPr/>
        </p:nvSpPr>
        <p:spPr>
          <a:xfrm>
            <a:off x="6241773" y="2783910"/>
            <a:ext cx="29501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600" b="1" dirty="0"/>
              <a:t>الشعور والإيمان بالقوة الداخلية لمواجهة التنمّر </a:t>
            </a:r>
            <a:endParaRPr lang="en-US" sz="1600" b="1" dirty="0"/>
          </a:p>
          <a:p>
            <a:pPr algn="ctr"/>
            <a:r>
              <a:rPr lang="en-US" sz="1600" b="1" dirty="0"/>
              <a:t>Feeling and believing in the inner strength to confront bullying</a:t>
            </a:r>
            <a:endParaRPr lang="ar-SA" sz="1600" b="1" dirty="0"/>
          </a:p>
        </p:txBody>
      </p:sp>
      <p:sp>
        <p:nvSpPr>
          <p:cNvPr id="310" name="مربع نص 309">
            <a:extLst>
              <a:ext uri="{FF2B5EF4-FFF2-40B4-BE49-F238E27FC236}">
                <a16:creationId xmlns:a16="http://schemas.microsoft.com/office/drawing/2014/main" id="{2F0158C2-A95B-4D6E-8EDC-267995DA1531}"/>
              </a:ext>
            </a:extLst>
          </p:cNvPr>
          <p:cNvSpPr txBox="1"/>
          <p:nvPr/>
        </p:nvSpPr>
        <p:spPr>
          <a:xfrm>
            <a:off x="9263655" y="5078757"/>
            <a:ext cx="26765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ar-EG"/>
            </a:defPPr>
            <a:lvl1pPr algn="ctr">
              <a:defRPr sz="2000"/>
            </a:lvl1pPr>
          </a:lstStyle>
          <a:p>
            <a:r>
              <a:rPr lang="ar-SA" b="1" dirty="0"/>
              <a:t>عدم الرد على المتنمّرين بمحاولة التنمّر عليهم </a:t>
            </a:r>
            <a:endParaRPr lang="en-US" b="1" dirty="0"/>
          </a:p>
          <a:p>
            <a:r>
              <a:rPr lang="en-US" b="1" dirty="0"/>
              <a:t>Do not respond to bullies by trying to bully them</a:t>
            </a:r>
            <a:endParaRPr lang="ar-SA" b="1" dirty="0"/>
          </a:p>
        </p:txBody>
      </p:sp>
      <p:sp>
        <p:nvSpPr>
          <p:cNvPr id="312" name="مربع نص 311">
            <a:extLst>
              <a:ext uri="{FF2B5EF4-FFF2-40B4-BE49-F238E27FC236}">
                <a16:creationId xmlns:a16="http://schemas.microsoft.com/office/drawing/2014/main" id="{0724928A-2A49-48C2-BE82-EA87437F831B}"/>
              </a:ext>
            </a:extLst>
          </p:cNvPr>
          <p:cNvSpPr txBox="1"/>
          <p:nvPr/>
        </p:nvSpPr>
        <p:spPr>
          <a:xfrm>
            <a:off x="6015557" y="5090245"/>
            <a:ext cx="30937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الابتعاد عن الدخول </a:t>
            </a:r>
          </a:p>
          <a:p>
            <a:pPr algn="ctr"/>
            <a:r>
              <a:rPr lang="ar-SA" sz="2000" b="1" dirty="0"/>
              <a:t>في أي مشاكل</a:t>
            </a:r>
            <a:endParaRPr lang="en-US" sz="2000" b="1" dirty="0"/>
          </a:p>
          <a:p>
            <a:pPr algn="ctr"/>
            <a:r>
              <a:rPr lang="en-US" sz="2000" b="1" dirty="0"/>
              <a:t>Stay away from entering</a:t>
            </a:r>
          </a:p>
          <a:p>
            <a:pPr algn="ctr"/>
            <a:r>
              <a:rPr lang="en-US" sz="2000" b="1" dirty="0"/>
              <a:t>In any problems</a:t>
            </a:r>
            <a:endParaRPr lang="ar-SA" sz="2000" b="1" dirty="0"/>
          </a:p>
        </p:txBody>
      </p:sp>
      <p:sp>
        <p:nvSpPr>
          <p:cNvPr id="336" name="مربع نص 335">
            <a:extLst>
              <a:ext uri="{FF2B5EF4-FFF2-40B4-BE49-F238E27FC236}">
                <a16:creationId xmlns:a16="http://schemas.microsoft.com/office/drawing/2014/main" id="{BD2C6B79-3503-429A-A289-692DA914E524}"/>
              </a:ext>
            </a:extLst>
          </p:cNvPr>
          <p:cNvSpPr txBox="1"/>
          <p:nvPr/>
        </p:nvSpPr>
        <p:spPr>
          <a:xfrm>
            <a:off x="3440470" y="3056811"/>
            <a:ext cx="2801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b="1" dirty="0"/>
              <a:t>تعلّم وممارسة أحد الفنون القتالية</a:t>
            </a:r>
            <a:endParaRPr lang="en-US" b="1" dirty="0"/>
          </a:p>
          <a:p>
            <a:pPr algn="ctr"/>
            <a:r>
              <a:rPr lang="en-US" b="1" dirty="0"/>
              <a:t>Learn and practice a martial art</a:t>
            </a:r>
            <a:r>
              <a:rPr lang="ar-SA" b="1" dirty="0"/>
              <a:t> </a:t>
            </a:r>
          </a:p>
        </p:txBody>
      </p:sp>
      <p:sp>
        <p:nvSpPr>
          <p:cNvPr id="431" name="مربع نص 430">
            <a:extLst>
              <a:ext uri="{FF2B5EF4-FFF2-40B4-BE49-F238E27FC236}">
                <a16:creationId xmlns:a16="http://schemas.microsoft.com/office/drawing/2014/main" id="{0E66B29D-F7FD-4BA9-91F0-8801C9DD47D1}"/>
              </a:ext>
            </a:extLst>
          </p:cNvPr>
          <p:cNvSpPr txBox="1"/>
          <p:nvPr/>
        </p:nvSpPr>
        <p:spPr>
          <a:xfrm>
            <a:off x="308472" y="2934207"/>
            <a:ext cx="29522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وضع الحدود في التعامل مع الجميع </a:t>
            </a:r>
            <a:endParaRPr lang="en-US" sz="2000" b="1" dirty="0"/>
          </a:p>
          <a:p>
            <a:pPr algn="ctr"/>
            <a:r>
              <a:rPr lang="en-US" sz="2000" b="1" dirty="0"/>
              <a:t>Set boundaries in dealing with everyone</a:t>
            </a:r>
            <a:endParaRPr lang="ar-SA" sz="2000" b="1" dirty="0"/>
          </a:p>
        </p:txBody>
      </p:sp>
      <p:sp>
        <p:nvSpPr>
          <p:cNvPr id="432" name="مربع نص 431">
            <a:extLst>
              <a:ext uri="{FF2B5EF4-FFF2-40B4-BE49-F238E27FC236}">
                <a16:creationId xmlns:a16="http://schemas.microsoft.com/office/drawing/2014/main" id="{B2340EDE-463D-4CC0-AF3B-EFD1E1522C05}"/>
              </a:ext>
            </a:extLst>
          </p:cNvPr>
          <p:cNvSpPr txBox="1"/>
          <p:nvPr/>
        </p:nvSpPr>
        <p:spPr>
          <a:xfrm>
            <a:off x="3572549" y="5091817"/>
            <a:ext cx="27752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ar-EG"/>
            </a:defPPr>
            <a:lvl1pPr algn="ctr">
              <a:defRPr sz="2000"/>
            </a:lvl1pPr>
          </a:lstStyle>
          <a:p>
            <a:r>
              <a:rPr lang="ar-SA" b="1" dirty="0"/>
              <a:t>إخبار شخص بالغ إذا ما كان الفرد يتعرّض للتنمّر</a:t>
            </a:r>
            <a:endParaRPr lang="en-US" b="1" dirty="0"/>
          </a:p>
          <a:p>
            <a:r>
              <a:rPr lang="en-US" b="1" dirty="0"/>
              <a:t>Tell an adult if the individual is being bullied</a:t>
            </a:r>
            <a:endParaRPr lang="ar-SA" b="1" dirty="0"/>
          </a:p>
        </p:txBody>
      </p:sp>
      <p:sp>
        <p:nvSpPr>
          <p:cNvPr id="433" name="مربع نص 432">
            <a:extLst>
              <a:ext uri="{FF2B5EF4-FFF2-40B4-BE49-F238E27FC236}">
                <a16:creationId xmlns:a16="http://schemas.microsoft.com/office/drawing/2014/main" id="{DDBE1271-DE19-4E9A-83A6-18865DADF537}"/>
              </a:ext>
            </a:extLst>
          </p:cNvPr>
          <p:cNvSpPr txBox="1"/>
          <p:nvPr/>
        </p:nvSpPr>
        <p:spPr>
          <a:xfrm>
            <a:off x="355350" y="5078757"/>
            <a:ext cx="2743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/>
              <a:t>الابتعاد عن الموقف وطلب المساعدة في الحال</a:t>
            </a:r>
            <a:endParaRPr lang="en-US" sz="2000" b="1" dirty="0"/>
          </a:p>
          <a:p>
            <a:pPr algn="ctr"/>
            <a:r>
              <a:rPr lang="en-US" sz="2000" b="1" dirty="0"/>
              <a:t>Move away from the situation and seek help immediately</a:t>
            </a:r>
            <a:endParaRPr lang="ar-SA" sz="2000" b="1" dirty="0"/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EAE7B881-569F-4A88-A787-4D0550FCA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603" y="1909394"/>
            <a:ext cx="676715" cy="780356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353E0D7F-0FD2-437D-BC36-5301A7661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395" y="1887502"/>
            <a:ext cx="1109568" cy="877900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75997CF8-B42D-49DE-8EF2-B46E0F943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2390" y="2096266"/>
            <a:ext cx="597460" cy="749873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5F7D45F1-A522-435F-B0E5-68ECE0468B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110" y="2102362"/>
            <a:ext cx="676715" cy="73768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631D4DA2-C060-4CD4-ADCA-FDED948C9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408" y="4245751"/>
            <a:ext cx="579170" cy="762066"/>
          </a:xfrm>
          <a:prstGeom prst="rect">
            <a:avLst/>
          </a:prstGeom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11C18BA3-6C58-4129-9AF8-9D2B2A0333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6816" y="4267919"/>
            <a:ext cx="810838" cy="810838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20BD3455-6A1F-4C7A-9151-7412B6AE85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8493" y="4267919"/>
            <a:ext cx="676715" cy="755970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DE71C74F-D4A7-4B48-B6E9-62426F51D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0492" y="4130381"/>
            <a:ext cx="816935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7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انفجار: 8 نقاط 6">
            <a:extLst>
              <a:ext uri="{FF2B5EF4-FFF2-40B4-BE49-F238E27FC236}">
                <a16:creationId xmlns:a16="http://schemas.microsoft.com/office/drawing/2014/main" id="{3744ED8B-258E-4252-BD77-335BDFE0D2DC}"/>
              </a:ext>
            </a:extLst>
          </p:cNvPr>
          <p:cNvSpPr/>
          <p:nvPr/>
        </p:nvSpPr>
        <p:spPr>
          <a:xfrm>
            <a:off x="8843075" y="-471521"/>
            <a:ext cx="3467517" cy="3467517"/>
          </a:xfrm>
          <a:prstGeom prst="irregularSeal1">
            <a:avLst/>
          </a:prstGeom>
          <a:solidFill>
            <a:srgbClr val="E8B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0" name="سحابة 19">
            <a:extLst>
              <a:ext uri="{FF2B5EF4-FFF2-40B4-BE49-F238E27FC236}">
                <a16:creationId xmlns:a16="http://schemas.microsoft.com/office/drawing/2014/main" id="{A72DB64A-D194-4DE6-A824-C423EDCF1B71}"/>
              </a:ext>
            </a:extLst>
          </p:cNvPr>
          <p:cNvSpPr/>
          <p:nvPr/>
        </p:nvSpPr>
        <p:spPr>
          <a:xfrm rot="5752637">
            <a:off x="-3020994" y="4305785"/>
            <a:ext cx="5069713" cy="2384385"/>
          </a:xfrm>
          <a:prstGeom prst="cloud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BBFA495F-23C7-4F4F-9847-D6872D29A1AF}"/>
              </a:ext>
            </a:extLst>
          </p:cNvPr>
          <p:cNvSpPr txBox="1"/>
          <p:nvPr/>
        </p:nvSpPr>
        <p:spPr>
          <a:xfrm>
            <a:off x="6692348" y="5763776"/>
            <a:ext cx="53803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5513C"/>
                </a:solidFill>
                <a:latin typeface="Garamond" pitchFamily="18" charset="0"/>
              </a:rPr>
              <a:t>Social worker </a:t>
            </a:r>
            <a:br>
              <a:rPr lang="ar-EG" sz="3200" b="1" dirty="0">
                <a:solidFill>
                  <a:srgbClr val="F5513C"/>
                </a:solidFill>
                <a:latin typeface="Garamond" pitchFamily="18" charset="0"/>
              </a:rPr>
            </a:br>
            <a:r>
              <a:rPr lang="en-US" sz="3200" b="1" dirty="0">
                <a:solidFill>
                  <a:srgbClr val="0070C0"/>
                </a:solidFill>
                <a:latin typeface="Garamond" pitchFamily="18" charset="0"/>
              </a:rPr>
              <a:t>	Mohamed Abd Elaziem</a:t>
            </a:r>
            <a:endParaRPr lang="ar-SA" sz="3200" b="1" dirty="0">
              <a:solidFill>
                <a:srgbClr val="0070C0"/>
              </a:solidFill>
              <a:latin typeface="Garamond" pitchFamily="18" charset="0"/>
            </a:endParaRPr>
          </a:p>
        </p:txBody>
      </p:sp>
      <p:sp>
        <p:nvSpPr>
          <p:cNvPr id="25" name="نجمة: 7 نقاط 24">
            <a:extLst>
              <a:ext uri="{FF2B5EF4-FFF2-40B4-BE49-F238E27FC236}">
                <a16:creationId xmlns:a16="http://schemas.microsoft.com/office/drawing/2014/main" id="{7E841364-25B8-4F04-9025-436F28557489}"/>
              </a:ext>
            </a:extLst>
          </p:cNvPr>
          <p:cNvSpPr/>
          <p:nvPr/>
        </p:nvSpPr>
        <p:spPr>
          <a:xfrm rot="20457463">
            <a:off x="11146197" y="1876781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F65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52" name="نجمة: 7 نقاط 251">
            <a:extLst>
              <a:ext uri="{FF2B5EF4-FFF2-40B4-BE49-F238E27FC236}">
                <a16:creationId xmlns:a16="http://schemas.microsoft.com/office/drawing/2014/main" id="{3DFBC629-965F-40EF-8844-D185F7F79E8D}"/>
              </a:ext>
            </a:extLst>
          </p:cNvPr>
          <p:cNvSpPr/>
          <p:nvPr/>
        </p:nvSpPr>
        <p:spPr>
          <a:xfrm rot="20457463">
            <a:off x="2945085" y="5601902"/>
            <a:ext cx="395275" cy="395275"/>
          </a:xfrm>
          <a:prstGeom prst="star7">
            <a:avLst>
              <a:gd name="adj" fmla="val 15142"/>
              <a:gd name="hf" fmla="val 102572"/>
              <a:gd name="vf" fmla="val 105210"/>
            </a:avLst>
          </a:prstGeom>
          <a:solidFill>
            <a:srgbClr val="937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A11F9473-F4C5-473F-B7FF-78D242008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33" y="2854368"/>
            <a:ext cx="4249254" cy="401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05129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مخصص 9">
      <a:majorFont>
        <a:latin typeface="Harmattan"/>
        <a:ea typeface=""/>
        <a:cs typeface="Harmattan"/>
      </a:majorFont>
      <a:minorFont>
        <a:latin typeface="Harmattan"/>
        <a:ea typeface=""/>
        <a:cs typeface="Harmatt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935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Garamond</vt:lpstr>
      <vt:lpstr>Arial</vt:lpstr>
      <vt:lpstr>Harmattan</vt:lpstr>
      <vt:lpstr>Calibri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Mohamed Abd Elaziem</dc:creator>
  <cp:lastModifiedBy>Mohamed AbdelAzem</cp:lastModifiedBy>
  <cp:revision>9</cp:revision>
  <dcterms:created xsi:type="dcterms:W3CDTF">2021-03-23T09:24:27Z</dcterms:created>
  <dcterms:modified xsi:type="dcterms:W3CDTF">2024-08-27T08:49:59Z</dcterms:modified>
</cp:coreProperties>
</file>